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85" r:id="rId8"/>
    <p:sldId id="262" r:id="rId9"/>
    <p:sldId id="263" r:id="rId10"/>
    <p:sldId id="264" r:id="rId11"/>
    <p:sldId id="265" r:id="rId12"/>
    <p:sldId id="277" r:id="rId13"/>
    <p:sldId id="266" r:id="rId14"/>
    <p:sldId id="267" r:id="rId15"/>
    <p:sldId id="268" r:id="rId16"/>
    <p:sldId id="269" r:id="rId17"/>
    <p:sldId id="286" r:id="rId18"/>
    <p:sldId id="287" r:id="rId19"/>
    <p:sldId id="288" r:id="rId20"/>
    <p:sldId id="270" r:id="rId21"/>
    <p:sldId id="271" r:id="rId22"/>
    <p:sldId id="272" r:id="rId23"/>
    <p:sldId id="273" r:id="rId24"/>
    <p:sldId id="274" r:id="rId25"/>
    <p:sldId id="290" r:id="rId26"/>
    <p:sldId id="275" r:id="rId27"/>
    <p:sldId id="291" r:id="rId28"/>
    <p:sldId id="292" r:id="rId29"/>
    <p:sldId id="289" r:id="rId30"/>
  </p:sldIdLst>
  <p:sldSz cx="9144000" cy="5143500" type="screen16x9"/>
  <p:notesSz cx="6858000" cy="9144000"/>
  <p:embeddedFontLst>
    <p:embeddedFont>
      <p:font typeface="Montserrat" panose="00000500000000000000" pitchFamily="2" charset="-52"/>
      <p:regular r:id="rId32"/>
      <p:bold r:id="rId33"/>
      <p:italic r:id="rId34"/>
      <p:boldItalic r:id="rId35"/>
    </p:embeddedFont>
    <p:embeddedFont>
      <p:font typeface="Montserrat ExtraBold" panose="00000900000000000000" pitchFamily="2" charset="-52"/>
      <p:bold r:id="rId36"/>
      <p:boldItalic r:id="rId37"/>
    </p:embeddedFont>
    <p:embeddedFont>
      <p:font typeface="Montserrat Medium" panose="00000600000000000000" pitchFamily="2" charset="-52"/>
      <p:regular r:id="rId38"/>
      <p:bold r:id="rId39"/>
      <p:italic r:id="rId40"/>
      <p:boldItalic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396">
          <p15:clr>
            <a:srgbClr val="747775"/>
          </p15:clr>
        </p15:guide>
        <p15:guide id="2" pos="5364">
          <p15:clr>
            <a:srgbClr val="747775"/>
          </p15:clr>
        </p15:guide>
        <p15:guide id="3" orient="horz" pos="75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2" d="100"/>
          <a:sy n="142" d="100"/>
        </p:scale>
        <p:origin x="714" y="114"/>
      </p:cViewPr>
      <p:guideLst>
        <p:guide pos="396"/>
        <p:guide pos="5364"/>
        <p:guide orient="horz" pos="7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cb95e010f2_0_5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cb95e010f2_0_5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cb95e010f2_0_4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cb95e010f2_0_4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cb95e010f2_0_4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cb95e010f2_0_4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cb95e010f2_0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cb95e010f2_0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cb97d990be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cb97d990be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b97d990be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cb97d990be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b97d990be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b97d990be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b97d990be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b97d990be_0_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cb97d990be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cb97d990be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cb97d990be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cb97d990be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b9f2828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b9f2828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cb9f28288c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cb9f28288c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b9f28288c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cb9f28288c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b9f28288c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cb9f28288c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cbaa6fcc8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cbaa6fcc8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baa6fcc8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baa6fcc8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cbaa6fcc80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cbaa6fcc80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baa6fcc80_5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cbaa6fcc80_5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cbaa6fcc80_5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cbaa6fcc80_5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26C9B724-F680-BFDB-3C90-F591BF46F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baa6fcc80_5_47:notes">
            <a:extLst>
              <a:ext uri="{FF2B5EF4-FFF2-40B4-BE49-F238E27FC236}">
                <a16:creationId xmlns:a16="http://schemas.microsoft.com/office/drawing/2014/main" id="{0518BBEF-9914-D56E-2347-3F4BF1C455F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baa6fcc80_5_47:notes">
            <a:extLst>
              <a:ext uri="{FF2B5EF4-FFF2-40B4-BE49-F238E27FC236}">
                <a16:creationId xmlns:a16="http://schemas.microsoft.com/office/drawing/2014/main" id="{2C75797E-1963-66DA-200A-517EF90855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7531511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baa6fcc80_5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baa6fcc80_5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F8234819-A3BB-E105-0826-1895DC2594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baa6fcc80_5_47:notes">
            <a:extLst>
              <a:ext uri="{FF2B5EF4-FFF2-40B4-BE49-F238E27FC236}">
                <a16:creationId xmlns:a16="http://schemas.microsoft.com/office/drawing/2014/main" id="{E8184FBB-7832-85B8-134D-9CC98541E0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baa6fcc80_5_47:notes">
            <a:extLst>
              <a:ext uri="{FF2B5EF4-FFF2-40B4-BE49-F238E27FC236}">
                <a16:creationId xmlns:a16="http://schemas.microsoft.com/office/drawing/2014/main" id="{613E2FF4-BBB6-AB69-E173-270E4633D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885497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>
          <a:extLst>
            <a:ext uri="{FF2B5EF4-FFF2-40B4-BE49-F238E27FC236}">
              <a16:creationId xmlns:a16="http://schemas.microsoft.com/office/drawing/2014/main" id="{9FA16A72-93D1-DCE7-2F2A-E5D2BE707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baa6fcc80_5_47:notes">
            <a:extLst>
              <a:ext uri="{FF2B5EF4-FFF2-40B4-BE49-F238E27FC236}">
                <a16:creationId xmlns:a16="http://schemas.microsoft.com/office/drawing/2014/main" id="{CF866D1F-5ADA-B8A5-D9F5-664AD4B6F7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cbaa6fcc80_5_47:notes">
            <a:extLst>
              <a:ext uri="{FF2B5EF4-FFF2-40B4-BE49-F238E27FC236}">
                <a16:creationId xmlns:a16="http://schemas.microsoft.com/office/drawing/2014/main" id="{537B8417-845A-20B7-11F1-E7F82DF883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75951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00" y="242275"/>
            <a:ext cx="6643150" cy="44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/>
          <p:nvPr/>
        </p:nvSpPr>
        <p:spPr>
          <a:xfrm>
            <a:off x="4726350" y="2508000"/>
            <a:ext cx="4261200" cy="2456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4676550" y="2592775"/>
            <a:ext cx="4311000" cy="22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ВНЕДРЕНИЕ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ИИ-ТЕХНОЛОГИЙ</a:t>
            </a:r>
            <a:r>
              <a:rPr lang="en" sz="2200">
                <a:solidFill>
                  <a:srgbClr val="D328D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ДЛЯ ПОВЫШЕНИЯ ЭФФЕКТИВНОСТИ РАБОТЫ РОЗНИЧНОЙ СЕТИ Т2</a:t>
            </a:r>
            <a:endParaRPr sz="22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7" name="Google Shape;57;p13"/>
          <p:cNvSpPr/>
          <p:nvPr/>
        </p:nvSpPr>
        <p:spPr>
          <a:xfrm>
            <a:off x="5532825" y="316125"/>
            <a:ext cx="672900" cy="589800"/>
          </a:xfrm>
          <a:prstGeom prst="wedgeEllipseCallout">
            <a:avLst>
              <a:gd name="adj1" fmla="val -18907"/>
              <a:gd name="adj2" fmla="val 113869"/>
            </a:avLst>
          </a:prstGeom>
          <a:solidFill>
            <a:srgbClr val="EC058C"/>
          </a:solidFill>
          <a:ln w="9525" cap="flat" cmpd="sng">
            <a:solidFill>
              <a:srgbClr val="EC0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4">
            <a:alphaModFix/>
          </a:blip>
          <a:srcRect l="21483" t="9434" r="21772" b="7294"/>
          <a:stretch/>
        </p:blipFill>
        <p:spPr>
          <a:xfrm>
            <a:off x="5479725" y="242275"/>
            <a:ext cx="779100" cy="762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59" name="Google Shape;59;p13"/>
          <p:cNvSpPr/>
          <p:nvPr/>
        </p:nvSpPr>
        <p:spPr>
          <a:xfrm>
            <a:off x="3742350" y="1204550"/>
            <a:ext cx="672900" cy="589800"/>
          </a:xfrm>
          <a:prstGeom prst="wedgeEllipseCallout">
            <a:avLst>
              <a:gd name="adj1" fmla="val 17960"/>
              <a:gd name="adj2" fmla="val 97207"/>
            </a:avLst>
          </a:prstGeom>
          <a:solidFill>
            <a:srgbClr val="EC058C"/>
          </a:solidFill>
          <a:ln w="9525" cap="flat" cmpd="sng">
            <a:solidFill>
              <a:srgbClr val="EC0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" name="Google Shape;60;p13"/>
          <p:cNvPicPr preferRelativeResize="0"/>
          <p:nvPr/>
        </p:nvPicPr>
        <p:blipFill rotWithShape="1">
          <a:blip r:embed="rId4">
            <a:alphaModFix/>
          </a:blip>
          <a:srcRect l="21483" t="9434" r="21772" b="7294"/>
          <a:stretch/>
        </p:blipFill>
        <p:spPr>
          <a:xfrm>
            <a:off x="3689250" y="1130700"/>
            <a:ext cx="779100" cy="762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1" name="Google Shape;61;p13"/>
          <p:cNvSpPr/>
          <p:nvPr/>
        </p:nvSpPr>
        <p:spPr>
          <a:xfrm>
            <a:off x="1686700" y="516100"/>
            <a:ext cx="672900" cy="589800"/>
          </a:xfrm>
          <a:prstGeom prst="wedgeEllipseCallout">
            <a:avLst>
              <a:gd name="adj1" fmla="val 17960"/>
              <a:gd name="adj2" fmla="val 97207"/>
            </a:avLst>
          </a:prstGeom>
          <a:solidFill>
            <a:srgbClr val="EC058C"/>
          </a:solidFill>
          <a:ln w="9525" cap="flat" cmpd="sng">
            <a:solidFill>
              <a:srgbClr val="EC0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2" name="Google Shape;62;p13"/>
          <p:cNvPicPr preferRelativeResize="0"/>
          <p:nvPr/>
        </p:nvPicPr>
        <p:blipFill rotWithShape="1">
          <a:blip r:embed="rId4">
            <a:alphaModFix/>
          </a:blip>
          <a:srcRect l="21483" t="9434" r="21772" b="7294"/>
          <a:stretch/>
        </p:blipFill>
        <p:spPr>
          <a:xfrm>
            <a:off x="1633600" y="442250"/>
            <a:ext cx="779100" cy="7623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63" name="Google Shape;63;p13"/>
          <p:cNvSpPr/>
          <p:nvPr/>
        </p:nvSpPr>
        <p:spPr>
          <a:xfrm>
            <a:off x="1490250" y="3228250"/>
            <a:ext cx="672900" cy="589800"/>
          </a:xfrm>
          <a:prstGeom prst="wedgeEllipseCallout">
            <a:avLst>
              <a:gd name="adj1" fmla="val 17960"/>
              <a:gd name="adj2" fmla="val 97207"/>
            </a:avLst>
          </a:prstGeom>
          <a:solidFill>
            <a:srgbClr val="EC058C"/>
          </a:solidFill>
          <a:ln w="9525" cap="flat" cmpd="sng">
            <a:solidFill>
              <a:srgbClr val="EC058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4" name="Google Shape;64;p13"/>
          <p:cNvPicPr preferRelativeResize="0"/>
          <p:nvPr/>
        </p:nvPicPr>
        <p:blipFill rotWithShape="1">
          <a:blip r:embed="rId4">
            <a:alphaModFix/>
          </a:blip>
          <a:srcRect l="21483" t="9434" r="21772" b="7294"/>
          <a:stretch/>
        </p:blipFill>
        <p:spPr>
          <a:xfrm>
            <a:off x="1437150" y="3154400"/>
            <a:ext cx="779100" cy="7623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ПЛАН ОБЗОРА</a:t>
            </a:r>
            <a:r>
              <a:rPr lang="en" sz="2200">
                <a:solidFill>
                  <a:srgbClr val="D328D3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РЕШЕНИЯ</a:t>
            </a:r>
            <a:endParaRPr sz="22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621625" y="1190775"/>
            <a:ext cx="52890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ОБЩИЕ ПОЛОЖЕНИЯ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Покажем основные задачи проекта, функциональные требования.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ОБЗОР РЕШЕНИЯ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Покажем как именно мы сделали задачу, какие технологии применили, предоставим ссылки на решение.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ОПИСАНИЕ ДЕЙСТВИЙ КАЖДОГО УЧАСТНИКА КОМАНДЫ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Каждый из нас покажет как работает его часть программы, так мы подробно разберем из чего состоит наше решение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10625" y="1892125"/>
            <a:ext cx="2928600" cy="1952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 txBox="1"/>
          <p:nvPr/>
        </p:nvSpPr>
        <p:spPr>
          <a:xfrm>
            <a:off x="512275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КОМАНДА ПРОЕКТА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РАЗРАБОТЧИКИ РЕШЕНИЯ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81" name="Google Shape;81;p15"/>
          <p:cNvSpPr txBox="1"/>
          <p:nvPr/>
        </p:nvSpPr>
        <p:spPr>
          <a:xfrm>
            <a:off x="278725" y="1190700"/>
            <a:ext cx="5624400" cy="324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Кижаев Роман Петрович - </a:t>
            </a:r>
            <a:r>
              <a:rPr lang="en" sz="18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-разработчик</a:t>
            </a: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Маклаков Сергей Александрович - </a:t>
            </a:r>
            <a:r>
              <a:rPr lang="en" sz="18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PM/QA</a:t>
            </a: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-инженер</a:t>
            </a: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Мукасеев Дмитрий Александрович - </a:t>
            </a:r>
            <a:r>
              <a:rPr lang="en" sz="18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-разработчик</a:t>
            </a: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Наумкин Владислав Валерьевич - </a:t>
            </a:r>
            <a:r>
              <a:rPr lang="en" sz="18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  <a:r>
              <a:rPr lang="en" sz="1800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-разработчик</a:t>
            </a: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75850" y="1783200"/>
            <a:ext cx="3089700" cy="2055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6"/>
          <p:cNvSpPr txBox="1"/>
          <p:nvPr/>
        </p:nvSpPr>
        <p:spPr>
          <a:xfrm>
            <a:off x="5018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ОПРЕДЕЛЕНИЕ ЗАДАЧИ </a:t>
            </a: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ПРОЕКТА</a:t>
            </a: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. ФУНКЦИОНАЛЬНЫЕ ТРЕБОВАНИЯ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6"/>
          <p:cNvSpPr txBox="1"/>
          <p:nvPr/>
        </p:nvSpPr>
        <p:spPr>
          <a:xfrm>
            <a:off x="611150" y="1127950"/>
            <a:ext cx="5945700" cy="3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ЗАДАЧА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Разработка программы для мониторинга и составления маршрутов торговой команды в реальном времени.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ТРЕБОВАНИЯ К ПРОГРАММЕ: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-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Формировать оптимизированные маршруты на основе базы торговых точек (ТТ), минимизируя временные и транспортные затраты.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-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Учитывать форс-мажоры  — оперативно корректировать маршруты и перераспределять ТТ на другие дни.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-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Предоставлять возможность выгрузки аналитической информации из программы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7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НАШ </a:t>
            </a: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СТЕК </a:t>
            </a: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ТЕХНОЛОГИЙ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97" name="Google Shape;9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7"/>
          <p:cNvSpPr txBox="1"/>
          <p:nvPr/>
        </p:nvSpPr>
        <p:spPr>
          <a:xfrm>
            <a:off x="512275" y="1002675"/>
            <a:ext cx="7976700" cy="40668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BACKEND</a:t>
            </a:r>
            <a:endParaRPr sz="1600"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Python, FastAPI, PostgreSQL</a:t>
            </a:r>
            <a:endParaRPr sz="1600"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QA</a:t>
            </a:r>
            <a:endParaRPr sz="1600"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Postman, Swagger, JIRA, GitHub Actions</a:t>
            </a:r>
            <a:endParaRPr sz="1600" dirty="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ML</a:t>
            </a:r>
            <a:endParaRPr sz="1600"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FRONTEND</a:t>
            </a:r>
            <a:endParaRPr sz="1600"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Vue, Vite,</a:t>
            </a:r>
            <a:r>
              <a:rPr lang="en" sz="1600" dirty="0">
                <a:solidFill>
                  <a:srgbClr val="D328D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r>
              <a:rPr lang="en" sz="16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TypeScript, TailwindCSS</a:t>
            </a:r>
            <a:endParaRPr sz="1600" dirty="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ИСПОЛЬЗУЕМЫЕ ML-МОДЕЛИ</a:t>
            </a:r>
            <a:r>
              <a:rPr lang="en" sz="1600" dirty="0">
                <a:solidFill>
                  <a:srgbClr val="D328D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600" dirty="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Qwen2-0.5B + Llama-3.2-1B (GGUF)</a:t>
            </a:r>
            <a:endParaRPr sz="1600"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DEVOPS</a:t>
            </a:r>
            <a:endParaRPr sz="1600" dirty="0">
              <a:solidFill>
                <a:srgbClr val="EC058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Docker, Nginx, GitHub Actions</a:t>
            </a:r>
            <a:endParaRPr sz="1600" dirty="0">
              <a:solidFill>
                <a:srgbClr val="F7F8FC"/>
              </a:solidFill>
              <a:latin typeface="Montserrat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8"/>
          <p:cNvSpPr txBox="1"/>
          <p:nvPr/>
        </p:nvSpPr>
        <p:spPr>
          <a:xfrm>
            <a:off x="512275" y="354225"/>
            <a:ext cx="7061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ДОКУМЕНТАЦИЯ </a:t>
            </a:r>
            <a:r>
              <a:rPr lang="en" sz="2200">
                <a:latin typeface="Montserrat ExtraBold"/>
                <a:ea typeface="Montserrat ExtraBold"/>
                <a:cs typeface="Montserrat ExtraBold"/>
                <a:sym typeface="Montserrat ExtraBold"/>
              </a:rPr>
              <a:t>ПРОЕКТА</a:t>
            </a:r>
            <a:endParaRPr sz="2200">
              <a:solidFill>
                <a:srgbClr val="D328D3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05" name="Google Shape;10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8"/>
          <p:cNvSpPr txBox="1"/>
          <p:nvPr/>
        </p:nvSpPr>
        <p:spPr>
          <a:xfrm>
            <a:off x="621625" y="1190775"/>
            <a:ext cx="52890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Вся необходимая документация проекта находится в директории docs на GitHUB.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Команда работала по методологии AGILE: каждую пятницу и понедельник созвоны, задачи выполнялись спринтами, трекер JIRA.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Историю commits и pull requests можете посмотреть также в репозитории, тип репозитория: публичный, лицензия apache 2.0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07" name="Google Shape;107;p18"/>
          <p:cNvSpPr txBox="1"/>
          <p:nvPr/>
        </p:nvSpPr>
        <p:spPr>
          <a:xfrm>
            <a:off x="5831125" y="3982225"/>
            <a:ext cx="2934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https://github.com/JellyfishKa/T2_project</a:t>
            </a:r>
            <a:endParaRPr>
              <a:solidFill>
                <a:schemeClr val="l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8" name="Google Shape;10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4600" y="1762850"/>
            <a:ext cx="2100900" cy="210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8"/>
          <p:cNvSpPr txBox="1"/>
          <p:nvPr/>
        </p:nvSpPr>
        <p:spPr>
          <a:xfrm>
            <a:off x="6154600" y="1247475"/>
            <a:ext cx="2100900" cy="39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ССЫЛКА НА </a:t>
            </a:r>
            <a:r>
              <a:rPr lang="en">
                <a:solidFill>
                  <a:srgbClr val="EC058C"/>
                </a:solidFill>
                <a:latin typeface="Montserrat"/>
                <a:ea typeface="Montserrat"/>
                <a:cs typeface="Montserrat"/>
                <a:sym typeface="Montserrat"/>
              </a:rPr>
              <a:t>GITHUB</a:t>
            </a:r>
            <a:endParaRPr>
              <a:solidFill>
                <a:srgbClr val="EC058C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N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N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Montserrat ExtraBold"/>
                <a:ea typeface="Montserrat ExtraBold"/>
                <a:cs typeface="Montserrat ExtraBold"/>
              </a:rPr>
              <a:t>АРХИТЕКТУРА</a:t>
            </a:r>
            <a:endParaRPr sz="1600">
              <a:latin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</a:rPr>
              <a:t>СИСТЕМЫ</a:t>
            </a:r>
            <a:endParaRPr sz="1600">
              <a:solidFill>
                <a:srgbClr val="EC058C"/>
              </a:solidFill>
              <a:latin typeface="Montserrat ExtraBold"/>
            </a:endParaRPr>
          </a:p>
        </p:txBody>
      </p:sp>
      <p:sp>
        <p:nvSpPr>
          <p:cNvPr id="503" name="Google Shape;503;pN"/>
          <p:cNvSpPr txBox="1"/>
          <p:nvPr/>
        </p:nvSpPr>
        <p:spPr>
          <a:xfrm>
            <a:off x="489600" y="1050975"/>
            <a:ext cx="7976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FRONTEND → BACKEND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Vue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3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TypeScript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Vite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) — SPA-интерфейс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Axios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HTTP-клиент →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Nginx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reverse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proxy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) →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FastAPI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Pinia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— управление состоянием приложения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BACKEND → БАЗА ДАННЫХ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FastAPI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(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async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)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SQLAlchemy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Alembic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(миграции)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PostgreSQL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— 8 таблиц: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Location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Route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SalesRep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VisitLog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...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openpyxl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— экспорт/импорт Excel (4 листа)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BACKEND → LLM-МОДЕЛИ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Qwen2-0.5B-Instruct (GGUF, ~0.6 GB RAM)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Llama-3.2-1B-Instruct (GGUF, ~1.2 GB RAM)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Запуск локально через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llama-cpp-python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(без облака)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DEVOPS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Docker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Docker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Compose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— контейнеризация всех сервисов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GitHub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Actions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— CI/CD: flake8,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pytest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vitest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при каждом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push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Сервер: http://100.120.184.98/ (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production-deploy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BACKEND: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ОБЩАЯ ИНФОРМАЦИЯ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621625" y="1190775"/>
            <a:ext cx="5654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ФРЕЙМВОРК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FastAPI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База данных: PostgreSQL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Тестовый сервер: uvicorn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ЛИНТЕРЫ, ФОРМАТ КОДА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Код соответсвует flake-8 договоренностям. Проверку осуществляет GitHub Actions.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ПОДРОБНОЕ ОПИСАНИЕ ВЕРСИЙ ПРОГРАММЫ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Можете найти данную информацию в указанных на рисунке директориях</a:t>
            </a: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97925" y="2289000"/>
            <a:ext cx="22002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0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20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BACKEND: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ML-CLIENTS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25" name="Google Shape;12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0"/>
          <p:cNvSpPr txBox="1"/>
          <p:nvPr/>
        </p:nvSpPr>
        <p:spPr>
          <a:xfrm>
            <a:off x="577325" y="1155075"/>
            <a:ext cx="5368200" cy="372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Код в указанных на рисунке файлах реализует следующий функционал:</a:t>
            </a:r>
            <a:endParaRPr sz="1600"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400"/>
              <a:buFont typeface="Montserrat Medium"/>
              <a:buChar char="-"/>
            </a:pPr>
            <a:r>
              <a:rPr lang="en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Строит матрицу расстояний, определяет ближайших соседей для каждой точки.</a:t>
            </a:r>
            <a:endParaRPr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400"/>
              <a:buFont typeface="Montserrat Medium"/>
              <a:buChar char="-"/>
            </a:pPr>
            <a:r>
              <a:rPr lang="en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Передаёт модели структурированное описание: точки, правила (приоритеты, время на точку), целевая метрика (минимизация расстояния/стоимости)</a:t>
            </a:r>
            <a:endParaRPr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400"/>
              <a:buFont typeface="Montserrat Medium"/>
              <a:buChar char="-"/>
            </a:pPr>
            <a:r>
              <a:rPr lang="en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Запускает локальную модель (GGUF) для генерации оптимальной последовательности точек в формате JSON</a:t>
            </a:r>
            <a:endParaRPr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400"/>
              <a:buFont typeface="Montserrat Medium"/>
              <a:buChar char="-"/>
            </a:pPr>
            <a:r>
              <a:rPr lang="en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Очищает ответ от «мусора» (маркдаун, шаблонные слова), проверяет корректность последовательности</a:t>
            </a:r>
            <a:endParaRPr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rgbClr val="F7F8FC"/>
              </a:buClr>
              <a:buSzPts val="1400"/>
              <a:buFont typeface="Montserrat Medium"/>
              <a:buChar char="-"/>
            </a:pPr>
            <a:r>
              <a:rPr lang="en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Возвращает маршрут с метриками: расстояние, время, стоимость, дата создания</a:t>
            </a:r>
            <a:endParaRPr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42225" y="1155075"/>
            <a:ext cx="2630788" cy="383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1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BACKEND: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DATABASES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34" name="Google Shape;1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1"/>
          <p:cNvSpPr txBox="1"/>
          <p:nvPr/>
        </p:nvSpPr>
        <p:spPr>
          <a:xfrm>
            <a:off x="426375" y="1155225"/>
            <a:ext cx="5331300" cy="375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Были созданы 10 таблиц, а именно:</a:t>
            </a:r>
            <a:endParaRPr sz="1200" dirty="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Location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торговые точки с адресом, категорией (A/B/C/D) и координатами.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SalesRep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торговые представители и их статус (</a:t>
            </a: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active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/ </a:t>
            </a: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sick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/ </a:t>
            </a: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vacation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).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VisitSchedule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плановые визиты с датой, ТТ, сотрудником и статусом.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VisitLog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фактические визиты с временем прихода и ухода.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ForceMajeureEvent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форс-мажоры и перераспределение визитов.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Route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маршрут объезда ТТ на рабочий день.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Metric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показатели качества маршрута (расстояние, время).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OptimizationResult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варианты LLM-оптимизации с плюсами и минусами.</a:t>
            </a:r>
            <a:endParaRPr sz="1200" dirty="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Holiday — праздничные нерабочие дни для корректной генерации расписания.</a:t>
            </a:r>
          </a:p>
          <a:p>
            <a:pPr marL="457200" lvl="0" indent="-323850">
              <a:buClr>
                <a:srgbClr val="F8F8F2"/>
              </a:buClr>
              <a:buSzPts val="1500"/>
              <a:buFont typeface="Montserrat Medium"/>
              <a:buAutoNum type="arabicParenR"/>
            </a:pPr>
            <a:r>
              <a:rPr lang="ru-RU" sz="1200" dirty="0" err="1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AuditLog</a:t>
            </a:r>
            <a:r>
              <a:rPr lang="ru-RU" sz="1200" dirty="0">
                <a:solidFill>
                  <a:srgbClr val="F8F8F2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— журнал всех изменений в системе.</a:t>
            </a:r>
            <a:endParaRPr sz="1200" dirty="0">
              <a:solidFill>
                <a:srgbClr val="F8F8F2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99275" y="1122424"/>
            <a:ext cx="2818350" cy="37591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BACKEND: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ENDPOINTS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/>
        </p:nvSpPr>
        <p:spPr>
          <a:xfrm>
            <a:off x="3153600" y="1684000"/>
            <a:ext cx="2836800" cy="132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Всего было реализовано 32 endpoint’ов.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Полный список можно найти в документации docs/API_CONTRACT.md на github.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9950" y="1432725"/>
            <a:ext cx="2580601" cy="2960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17350" y="1422648"/>
            <a:ext cx="2580600" cy="29615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9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QA/PM: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ОРГАНИЗАЦИЯ РАБОТЫ И ТЕСТИРОВАНИЕ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16" name="Google Shape;116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9"/>
          <p:cNvSpPr txBox="1"/>
          <p:nvPr/>
        </p:nvSpPr>
        <p:spPr>
          <a:xfrm>
            <a:off x="621625" y="1190775"/>
            <a:ext cx="5654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ИНСТРУМЕНТЫ PM</a:t>
            </a:r>
            <a:endParaRPr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JIRA — трекер задач и спринтов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GitHub — контроль версий, PR-ревью, CI/CD (GitHub Actions)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Методология AGILE: еженедельные синхронизации, итеративные спринты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ИНСТРУМЕНТЫ QA</a:t>
            </a:r>
            <a:endParaRPr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Postman — тестирование REST API (32 endpoint’ов). Swagger UI — авто-документация и ручная проверка запросов.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АРТЕФАКТЫ QA</a:t>
            </a:r>
            <a:endParaRPr dirty="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Тест-кейсы и баг-репорты — в JIRA. Покрытие: smoke, functional, regression. CI-проверка линтера flake8 при каждом push.</a:t>
            </a:r>
            <a:endParaRPr dirty="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dirty="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97925" y="2289000"/>
            <a:ext cx="22002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/>
        </p:nvSpPr>
        <p:spPr>
          <a:xfrm>
            <a:off x="621625" y="1190775"/>
            <a:ext cx="78936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НАЗНАЧЕНИЕ</a:t>
            </a:r>
            <a:br>
              <a:rPr lang="en" sz="1800">
                <a:solidFill>
                  <a:srgbClr val="D328D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Изолированное окружение для экспериментов с LLM (Qwen, Llama) без модификации backend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ФУНКЦИИ</a:t>
            </a:r>
            <a:br>
              <a:rPr lang="en" sz="1800">
                <a:solidFill>
                  <a:srgbClr val="D328D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Функциональное тестирование моделей, сравнительные бенчмарки, исследовательские ноутбуки, сбор артефактов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ИНТЕГРАЦИЯ</a:t>
            </a:r>
            <a:br>
              <a:rPr lang="en" sz="1800">
                <a:solidFill>
                  <a:srgbClr val="D328D3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</a:b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Использование унифицированных клиентов QwenClient и LlamaClient с интерфейсом generate(prompt)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52" name="Google Shape;152;p23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3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ML: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ОБЩАЯ ИНФОРМАЦИЯ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54" name="Google Shape;15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4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4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ML: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ВАЛИДАЦИЯ МОДЕЛЕЙ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61" name="Google Shape;16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4"/>
          <p:cNvSpPr txBox="1"/>
          <p:nvPr/>
        </p:nvSpPr>
        <p:spPr>
          <a:xfrm>
            <a:off x="621625" y="1190775"/>
            <a:ext cx="78936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ЦЕЛЬ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Убедиться в корректной доступности и базовой работоспособности Qwen и Llama из Hugging Face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СИСТЕМНЫЕ МЕТРИКИ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Фиксация конфигурации окружения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ПРОВЕРКА BACKEND-КЛИЕНТОВ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Контроль успешного импорта и ответа generate() из backend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ВЫХОДНЫЕ АРТЕФАКТЫ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Протокол model_test.log и машинно‑читаемый отчёт test_results.json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25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ML: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СРАВНИТЕЛЬНЫЙ БЕНЧМАРК LLM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69" name="Google Shape;16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5"/>
          <p:cNvSpPr txBox="1"/>
          <p:nvPr/>
        </p:nvSpPr>
        <p:spPr>
          <a:xfrm>
            <a:off x="621625" y="1190775"/>
            <a:ext cx="78936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ЗАДАЧА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Количественная оценка моделей по времени отклика, качеству ответа (0–100), доле успешных кейсов и условной стоимости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РЕЖИМЫ ЗАПУСКА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Полноценные HF‑модели, псевдо‑режим --mock, а также режим --backend для клиентов из backend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АРТЕФАКТЫ ЭКСПЕРИМЕНТА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Агрегированные результаты в results.json и детальный лог benchmark.log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6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ML: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АНАЛИТИКА И ВЫБОР LLM-СТРАТЕГИИ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77" name="Google Shape;177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6"/>
          <p:cNvSpPr txBox="1"/>
          <p:nvPr/>
        </p:nvSpPr>
        <p:spPr>
          <a:xfrm>
            <a:off x="625200" y="1145325"/>
            <a:ext cx="78936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ИНСТРУМЕНТЫ АНАЛИЗА</a:t>
            </a:r>
            <a:endParaRPr sz="17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optimization_comparison.py и generate_analysis_report.py для постобработки результатов бенчмарка</a:t>
            </a:r>
            <a:endParaRPr sz="15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ВЫХОДНЫЕ МАТЕРИАЛЫ</a:t>
            </a:r>
            <a:endParaRPr sz="17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Сравнительные таблицы и отчёт (XLSX) с ключевыми метриками по моделям</a:t>
            </a:r>
            <a:endParaRPr sz="15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ПРИНЯТИЕ РЕШЕНИЙ</a:t>
            </a:r>
            <a:endParaRPr sz="17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Формирование рекомендованной схемы Primary / Fallback / Greedy модели и условий переключения</a:t>
            </a:r>
            <a:endParaRPr sz="15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ВКЛАД В СИСТЕМУ</a:t>
            </a:r>
            <a:endParaRPr sz="17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Данные ML‑модуля используются для настройки fallback‑логики в backend и обоснования архитектурных решений</a:t>
            </a:r>
            <a:endParaRPr sz="15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N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N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Montserrat ExtraBold"/>
                <a:ea typeface="Montserrat ExtraBold"/>
                <a:cs typeface="Montserrat ExtraBold"/>
              </a:rPr>
              <a:t>ОПИСАНИЕ РАБОТЫ ML:</a:t>
            </a:r>
            <a:endParaRPr sz="1600">
              <a:latin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</a:rPr>
              <a:t>FALLBACK-МЕХАНИЗМ LLM</a:t>
            </a:r>
            <a:endParaRPr sz="1600">
              <a:solidFill>
                <a:srgbClr val="EC058C"/>
              </a:solidFill>
              <a:latin typeface="Montserrat ExtraBold"/>
            </a:endParaRPr>
          </a:p>
        </p:txBody>
      </p:sp>
      <p:sp>
        <p:nvSpPr>
          <p:cNvPr id="513" name="Google Shape;513;pN"/>
          <p:cNvSpPr txBox="1"/>
          <p:nvPr/>
        </p:nvSpPr>
        <p:spPr>
          <a:xfrm>
            <a:off x="489600" y="1050975"/>
            <a:ext cx="7976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ЦЕПОЧКА FALLBACK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1. Qwen2-0.5B (PRIMARY) — быстрый, лёгкий, основной выбор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2. Llama-3.2-1B (FALLBACK) — включается при сбое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Qwen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3.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Greedy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-алгоритм (АВАРИЙНЫЙ) — гарантированный результат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УСЛОВИЯ ПЕРЕКЛЮЧЕНИЯ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Qwen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не отвечает за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timeout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или вернул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невалидный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JSON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Llama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не даёт корректную последовательность точек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Greedy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всегда возвращает результат — система не ломается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3 ВАРИАНТА МАРШРУТА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POST 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optimize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variants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генерирует 3 разных маршрута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Каждый вариант содержит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pros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cons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от LLM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Пользователь выбирает лучший → POST 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optimize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confirm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ML-ДАННЫЕ ДЛЯ РЕШЕНИЯ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Датасет: 250 реальных торговых точек Мордовии, учёт 17 праздников 2026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Матрица расстояний + ближайшие соседи для каждой ТТ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Метрики: расстояние, время, стоимость маршрута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N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N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Montserrat ExtraBold"/>
                <a:ea typeface="Montserrat ExtraBold"/>
                <a:cs typeface="Montserrat ExtraBold"/>
              </a:rPr>
              <a:t>ОПИСАНИЕ РАБОТЫ BACKEND:</a:t>
            </a:r>
            <a:endParaRPr sz="1600">
              <a:latin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</a:rPr>
              <a:t>АЛГОРИТМ РАСПИСАНИЯ</a:t>
            </a:r>
            <a:endParaRPr sz="1600">
              <a:solidFill>
                <a:srgbClr val="EC058C"/>
              </a:solidFill>
              <a:latin typeface="Montserrat ExtraBold"/>
            </a:endParaRPr>
          </a:p>
        </p:txBody>
      </p:sp>
      <p:sp>
        <p:nvSpPr>
          <p:cNvPr id="523" name="Google Shape;523;pN"/>
          <p:cNvSpPr txBox="1"/>
          <p:nvPr/>
        </p:nvSpPr>
        <p:spPr>
          <a:xfrm>
            <a:off x="648519" y="1050975"/>
            <a:ext cx="7976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КАТЕГОРИИ ТОРГОВЫХ ТОЧЕК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 (критические) — 3 визита в месяц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B (важные) — 2 визита в месяц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 (стандартные) — 1 визит в месяц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D (периодические) — 1 визит в квартал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ПРАВИЛА ПЛАНИРОВЩИКА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Максимум 14 ТТ на торгового представителя в день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Рабочее время: 09:00–18:00, учёт праздников (17 нерабочих дней 2026, настраиваемые)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Трекинг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time_in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/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time_out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→ длительность визита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ФОРС-МАЖОРЫ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POST 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force_majeure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— регистрация болезни/отпуска ТП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Автоматическое перераспределение визитов на других ТП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Перепланирование без потери охвата ТТ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EXCEL-ИНТЕГРАЦИЯ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Экспорт: 5 листов — Расписание, Журнал, Статистика по ТТ, Активность ТП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Импорт: загрузка заполненного Excel → обновление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VisitLog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GET 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export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schedule?month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=YYYY-MM</a:t>
            </a:r>
            <a:endParaRPr sz="1200" dirty="0">
              <a:solidFill>
                <a:srgbClr val="F7F8FC"/>
              </a:solidFill>
              <a:latin typeface="Montserrat Medium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N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N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Montserrat ExtraBold"/>
                <a:ea typeface="Montserrat ExtraBold"/>
                <a:cs typeface="Montserrat ExtraBold"/>
              </a:rPr>
              <a:t>QA/PM:</a:t>
            </a:r>
            <a:endParaRPr sz="1600">
              <a:latin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</a:rPr>
              <a:t>ПОКРЫТИЕ ТЕСТАМИ И CI/CD</a:t>
            </a:r>
            <a:endParaRPr sz="1600">
              <a:solidFill>
                <a:srgbClr val="EC058C"/>
              </a:solidFill>
              <a:latin typeface="Montserrat ExtraBold"/>
            </a:endParaRPr>
          </a:p>
        </p:txBody>
      </p:sp>
      <p:sp>
        <p:nvSpPr>
          <p:cNvPr id="533" name="Google Shape;533;pN"/>
          <p:cNvSpPr txBox="1"/>
          <p:nvPr/>
        </p:nvSpPr>
        <p:spPr>
          <a:xfrm>
            <a:off x="489600" y="1050975"/>
            <a:ext cx="7639375" cy="366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BACKEND — 91 ТЕСТ / COVERAGE 64%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pytest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: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unit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integration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тесты всех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endpoints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Тестирование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Qwen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Llama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клиентов в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mock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-режиме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Проверка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fallback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-цепочки и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force_majeure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логики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FRONTEND — 190 ТЕСТОВ / COVERAGE ~70%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Vitest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Vue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Test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Utils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: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AnalyticsView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OptimizeView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TypeScript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-проверка: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npx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vue-tsc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--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noEmit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Тесты API-сервисов и компонентов форм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ML — 15 ТЕСТОВ / COVERAGE ~80%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Валидация доступности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Qwen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и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Llama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из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Hugging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Face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Бенчмарк качества ответа (0–100) и времени отклика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Режим --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mock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для тестирования без загрузки модели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CI/CD — GITHUB ACTIONS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Автопроверка flake8 при каждом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push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в репозиторий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Запуск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pytest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vitest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в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pipeline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при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pull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request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Лицензия Apache 2.0, публичный репозиторий</a:t>
            </a:r>
            <a:endParaRPr sz="1200" dirty="0">
              <a:solidFill>
                <a:srgbClr val="F7F8FC"/>
              </a:solidFill>
              <a:latin typeface="Montserrat Medium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7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7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ОБЩАЯ ИНФОРМАЦИЯ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85" name="Google Shape;18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7"/>
          <p:cNvSpPr txBox="1"/>
          <p:nvPr/>
        </p:nvSpPr>
        <p:spPr>
          <a:xfrm>
            <a:off x="621625" y="1190775"/>
            <a:ext cx="56547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ФРЕЙМВОРК И ИНСТРУМЕНТЫ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Vue 3 + TypeScript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Vite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Montserrat Medium"/>
              <a:buChar char="●"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Pinia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СТИЛИЗАЦИЯ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TailwindCSS  CSS-фреймворк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Адаптивный дизайн для всех устройств 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API-ИНТЕГРАЦИЯ</a:t>
            </a:r>
            <a:endParaRPr sz="18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Axios - HTTP-клиент с обработкой ошибок</a:t>
            </a: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193" name="Google Shape;19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8"/>
          <p:cNvSpPr txBox="1"/>
          <p:nvPr/>
        </p:nvSpPr>
        <p:spPr>
          <a:xfrm>
            <a:off x="621625" y="1190775"/>
            <a:ext cx="52890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5" name="Google Shape;195;p28"/>
          <p:cNvSpPr txBox="1"/>
          <p:nvPr/>
        </p:nvSpPr>
        <p:spPr>
          <a:xfrm>
            <a:off x="448425" y="1164300"/>
            <a:ext cx="38565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ОСНОВНЫЕ СТРАНИЦЫ</a:t>
            </a:r>
            <a:endParaRPr sz="2100">
              <a:solidFill>
                <a:srgbClr val="EC058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Dashboard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Просмотр оптимизированных маршрутов и сравнение производительности моделей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Optimize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Создание новых маршрутов</a:t>
            </a: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Analytics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Визуализация данных, Статистика использования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sp>
        <p:nvSpPr>
          <p:cNvPr id="196" name="Google Shape;196;p28"/>
          <p:cNvSpPr txBox="1"/>
          <p:nvPr/>
        </p:nvSpPr>
        <p:spPr>
          <a:xfrm>
            <a:off x="4230600" y="1166325"/>
            <a:ext cx="4913400" cy="367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Расписание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Просмотр уже существующих маршрутов</a:t>
            </a: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Возможность предусмотреть форс-мажорные обстоятельства и обновить маршрут с их учётом</a:t>
            </a: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Сотрудники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Небольшая информация о торговых представителях</a:t>
            </a: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9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9"/>
          <p:cNvSpPr txBox="1"/>
          <p:nvPr/>
        </p:nvSpPr>
        <p:spPr>
          <a:xfrm>
            <a:off x="489600" y="277275"/>
            <a:ext cx="70614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03" name="Google Shape;203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9"/>
          <p:cNvSpPr txBox="1"/>
          <p:nvPr/>
        </p:nvSpPr>
        <p:spPr>
          <a:xfrm>
            <a:off x="621625" y="1190775"/>
            <a:ext cx="49134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Расписание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Просмотр уже существующих маршрутов</a:t>
            </a: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Возможность предусмотреть форс-мажорные обстоятельства и обновить маршрут с их учётом</a:t>
            </a:r>
            <a:endParaRPr sz="1600">
              <a:solidFill>
                <a:srgbClr val="F7F8FC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Сотрудники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Небольшая информация о торговых представителях</a:t>
            </a: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 </a:t>
            </a:r>
            <a:endParaRPr sz="1800">
              <a:solidFill>
                <a:schemeClr val="lt1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0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30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11" name="Google Shape;21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 txBox="1"/>
          <p:nvPr/>
        </p:nvSpPr>
        <p:spPr>
          <a:xfrm>
            <a:off x="621625" y="1190775"/>
            <a:ext cx="5289000" cy="362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D328D3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C5476A-2F2A-2042-283C-AE99AEB1A3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2568" y="1190775"/>
            <a:ext cx="6710082" cy="32889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1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31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0" name="Google Shape;22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DF5D29-D540-C3CE-19EA-7FA96B54320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179" y="1262402"/>
            <a:ext cx="6992471" cy="343293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5">
          <a:extLst>
            <a:ext uri="{FF2B5EF4-FFF2-40B4-BE49-F238E27FC236}">
              <a16:creationId xmlns:a16="http://schemas.microsoft.com/office/drawing/2014/main" id="{5F1F7858-914D-5EC6-DF3A-971569363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>
            <a:extLst>
              <a:ext uri="{FF2B5EF4-FFF2-40B4-BE49-F238E27FC236}">
                <a16:creationId xmlns:a16="http://schemas.microsoft.com/office/drawing/2014/main" id="{31284C4A-D975-66FC-29BB-6BFFB406D036}"/>
              </a:ext>
            </a:extLst>
          </p:cNvPr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2">
            <a:extLst>
              <a:ext uri="{FF2B5EF4-FFF2-40B4-BE49-F238E27FC236}">
                <a16:creationId xmlns:a16="http://schemas.microsoft.com/office/drawing/2014/main" id="{9CEDD8AC-FFF5-70EE-70C5-DA3717F52DC5}"/>
              </a:ext>
            </a:extLst>
          </p:cNvPr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8" name="Google Shape;228;p32">
            <a:extLst>
              <a:ext uri="{FF2B5EF4-FFF2-40B4-BE49-F238E27FC236}">
                <a16:creationId xmlns:a16="http://schemas.microsoft.com/office/drawing/2014/main" id="{71141A2A-B60C-BCF1-A233-76DB2E34961B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07F54DE-2CA9-7CD9-109F-392EC329DA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203" y="1181847"/>
            <a:ext cx="6871447" cy="336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65270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2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32"/>
          <p:cNvPicPr preferRelativeResize="0"/>
          <p:nvPr/>
        </p:nvPicPr>
        <p:blipFill rotWithShape="1">
          <a:blip r:embed="rId4">
            <a:alphaModFix/>
          </a:blip>
          <a:srcRect l="13817" t="11000" r="2946"/>
          <a:stretch/>
        </p:blipFill>
        <p:spPr>
          <a:xfrm>
            <a:off x="1125225" y="1196725"/>
            <a:ext cx="6893549" cy="361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5">
          <a:extLst>
            <a:ext uri="{FF2B5EF4-FFF2-40B4-BE49-F238E27FC236}">
              <a16:creationId xmlns:a16="http://schemas.microsoft.com/office/drawing/2014/main" id="{BD7DDEDF-2CFF-3CBC-D65C-D427913C6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>
            <a:extLst>
              <a:ext uri="{FF2B5EF4-FFF2-40B4-BE49-F238E27FC236}">
                <a16:creationId xmlns:a16="http://schemas.microsoft.com/office/drawing/2014/main" id="{D60EFAC1-D81A-F971-18CE-6C3B000A26FD}"/>
              </a:ext>
            </a:extLst>
          </p:cNvPr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2">
            <a:extLst>
              <a:ext uri="{FF2B5EF4-FFF2-40B4-BE49-F238E27FC236}">
                <a16:creationId xmlns:a16="http://schemas.microsoft.com/office/drawing/2014/main" id="{6B3BD693-3ACE-B8CE-5584-139769BEA364}"/>
              </a:ext>
            </a:extLst>
          </p:cNvPr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8" name="Google Shape;228;p32">
            <a:extLst>
              <a:ext uri="{FF2B5EF4-FFF2-40B4-BE49-F238E27FC236}">
                <a16:creationId xmlns:a16="http://schemas.microsoft.com/office/drawing/2014/main" id="{252E2C77-8EA2-092B-2B29-4989962A272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7F3182A-A103-54B0-3022-C4ED4BCAF7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24" y="1256730"/>
            <a:ext cx="7060126" cy="3464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50496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225">
          <a:extLst>
            <a:ext uri="{FF2B5EF4-FFF2-40B4-BE49-F238E27FC236}">
              <a16:creationId xmlns:a16="http://schemas.microsoft.com/office/drawing/2014/main" id="{3397FCA8-81D5-69BD-7278-B6E6F18803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32">
            <a:extLst>
              <a:ext uri="{FF2B5EF4-FFF2-40B4-BE49-F238E27FC236}">
                <a16:creationId xmlns:a16="http://schemas.microsoft.com/office/drawing/2014/main" id="{62862165-6E25-D137-3FC1-6DF58B49670F}"/>
              </a:ext>
            </a:extLst>
          </p:cNvPr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32">
            <a:extLst>
              <a:ext uri="{FF2B5EF4-FFF2-40B4-BE49-F238E27FC236}">
                <a16:creationId xmlns:a16="http://schemas.microsoft.com/office/drawing/2014/main" id="{88725C8C-4612-811C-2791-DBA3F287B612}"/>
              </a:ext>
            </a:extLst>
          </p:cNvPr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Montserrat ExtraBold"/>
                <a:ea typeface="Montserrat ExtraBold"/>
                <a:cs typeface="Montserrat ExtraBold"/>
                <a:sym typeface="Montserrat ExtraBold"/>
              </a:rPr>
              <a:t>ОПИСАНИЕ РАБОТЫ FRONTEND:</a:t>
            </a:r>
            <a:endParaRPr sz="1600">
              <a:latin typeface="Montserrat ExtraBold"/>
              <a:ea typeface="Montserrat ExtraBold"/>
              <a:cs typeface="Montserrat ExtraBold"/>
              <a:sym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СТРУКТУРА ПРИЛОЖЕНИЯ</a:t>
            </a:r>
            <a:endParaRPr sz="1600">
              <a:solidFill>
                <a:srgbClr val="EC058C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28" name="Google Shape;228;p32">
            <a:extLst>
              <a:ext uri="{FF2B5EF4-FFF2-40B4-BE49-F238E27FC236}">
                <a16:creationId xmlns:a16="http://schemas.microsoft.com/office/drawing/2014/main" id="{5B4C1E25-C81E-C178-1001-F29BCDDDEB5D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52650" y="278150"/>
            <a:ext cx="845550" cy="675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A9C3731-206F-85BC-3DAE-0E4788979B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6732" y="1160373"/>
            <a:ext cx="7005918" cy="3443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41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N"/>
          <p:cNvSpPr/>
          <p:nvPr/>
        </p:nvSpPr>
        <p:spPr>
          <a:xfrm>
            <a:off x="391625" y="228975"/>
            <a:ext cx="8373900" cy="773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N"/>
          <p:cNvSpPr txBox="1"/>
          <p:nvPr/>
        </p:nvSpPr>
        <p:spPr>
          <a:xfrm>
            <a:off x="489600" y="277275"/>
            <a:ext cx="7061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latin typeface="Montserrat ExtraBold"/>
                <a:ea typeface="Montserrat ExtraBold"/>
                <a:cs typeface="Montserrat ExtraBold"/>
              </a:rPr>
              <a:t>СТАТУС ПРОЕКТА:</a:t>
            </a:r>
            <a:endParaRPr sz="1600">
              <a:latin typeface="Montserrat ExtraBol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EC058C"/>
                </a:solidFill>
                <a:latin typeface="Montserrat ExtraBold"/>
                <a:ea typeface="Montserrat ExtraBold"/>
                <a:cs typeface="Montserrat ExtraBold"/>
              </a:rPr>
              <a:t>PRODUCTION-READY ✓</a:t>
            </a:r>
            <a:endParaRPr sz="1600">
              <a:solidFill>
                <a:srgbClr val="EC058C"/>
              </a:solidFill>
              <a:latin typeface="Montserrat ExtraBold"/>
            </a:endParaRPr>
          </a:p>
        </p:txBody>
      </p:sp>
      <p:sp>
        <p:nvSpPr>
          <p:cNvPr id="543" name="Google Shape;543;pN"/>
          <p:cNvSpPr txBox="1"/>
          <p:nvPr/>
        </p:nvSpPr>
        <p:spPr>
          <a:xfrm>
            <a:off x="590225" y="1211105"/>
            <a:ext cx="7976700" cy="35088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РЕАЛИЗОВАННЫЙ ФУНКЦИОНАЛ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Оптимизация маршрутов: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Qwen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Llama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Greedy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fallback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Расписание визитов: алгоритм A/B/C/D, 14 ТТ/день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Форс-мажоры: регистрация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автоперераспределение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АНАЛИТИКА И ИНТЕГРАЦИИ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Трекинг времени на ТТ: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time_in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/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time_out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Excel экспорт (5 листов) + Excel импорт со статусами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3 LLM-варианта маршрута с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pros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/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cons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ИНФРАСТРУКТУРА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Docker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+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Docker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Compose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Nginx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деплой на сервер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CI/CD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GitHub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Actions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: 281 тест (91+190),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coverage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 64–80%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✓ Документация: ARCHITECTURE.md, API_CONTRACT.md, PLAN.md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EC058C"/>
                </a:solidFill>
                <a:latin typeface="Montserrat Medium"/>
                <a:ea typeface="Montserrat Medium"/>
                <a:cs typeface="Montserrat Medium"/>
              </a:rPr>
              <a:t>ИТОГИ РАЗРАБОТКИ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Длительность: 4 недели, команда: 4 человека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32 API </a:t>
            </a:r>
            <a:r>
              <a:rPr lang="ru-RU" sz="1200" dirty="0" err="1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endpoints</a:t>
            </a: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, 10 таблиц БД, 250 ТТ Мордовии</a:t>
            </a:r>
            <a:endParaRPr sz="1200" dirty="0">
              <a:solidFill>
                <a:srgbClr val="F7F8FC"/>
              </a:solidFill>
              <a:latin typeface="Montserrat Mediu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rgbClr val="F7F8FC"/>
                </a:solidFill>
                <a:latin typeface="Montserrat Medium"/>
                <a:ea typeface="Montserrat Medium"/>
                <a:cs typeface="Montserrat Medium"/>
              </a:rPr>
              <a:t>Сайт: http://100.120.184.98/</a:t>
            </a:r>
            <a:endParaRPr sz="1200" dirty="0">
              <a:solidFill>
                <a:srgbClr val="F7F8FC"/>
              </a:solidFill>
              <a:latin typeface="Montserrat Mediu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1682</Words>
  <Application>Microsoft Office PowerPoint</Application>
  <PresentationFormat>Экран (16:9)</PresentationFormat>
  <Paragraphs>324</Paragraphs>
  <Slides>29</Slides>
  <Notes>23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4" baseType="lpstr">
      <vt:lpstr>Arial</vt:lpstr>
      <vt:lpstr>Montserrat Medium</vt:lpstr>
      <vt:lpstr>Montserrat ExtraBold</vt:lpstr>
      <vt:lpstr>Montserrat</vt:lpstr>
      <vt:lpstr>Simple Light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Сергей Маклаков</cp:lastModifiedBy>
  <cp:revision>7</cp:revision>
  <dcterms:modified xsi:type="dcterms:W3CDTF">2026-03-16T11:38:30Z</dcterms:modified>
</cp:coreProperties>
</file>