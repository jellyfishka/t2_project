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embeddedFontLst>
    <p:embeddedFont>
      <p:font typeface="Montserrat"/>
      <p:regular r:id="rId27"/>
      <p:bold r:id="rId28"/>
      <p:italic r:id="rId29"/>
      <p:boldItalic r:id="rId30"/>
    </p:embeddedFont>
    <p:embeddedFont>
      <p:font typeface="Montserrat Medium"/>
      <p:regular r:id="rId31"/>
      <p:bold r:id="rId32"/>
      <p:italic r:id="rId33"/>
      <p:boldItalic r:id="rId34"/>
    </p:embeddedFont>
    <p:embeddedFont>
      <p:font typeface="Montserrat ExtraBold"/>
      <p:bold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96">
          <p15:clr>
            <a:srgbClr val="747775"/>
          </p15:clr>
        </p15:guide>
        <p15:guide id="2" pos="5364">
          <p15:clr>
            <a:srgbClr val="747775"/>
          </p15:clr>
        </p15:guide>
        <p15:guide id="3" orient="horz" pos="75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4215610-1FEE-4E96-BB8B-6ABC463A84EA}">
  <a:tblStyle styleId="{C4215610-1FEE-4E96-BB8B-6ABC463A84E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96"/>
        <p:guide pos="5364"/>
        <p:guide pos="75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Montserrat-bold.fntdata"/><Relationship Id="rId27" Type="http://schemas.openxmlformats.org/officeDocument/2006/relationships/font" Target="fonts/Montserrat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Medium-regular.fntdata"/><Relationship Id="rId30" Type="http://schemas.openxmlformats.org/officeDocument/2006/relationships/font" Target="fonts/Montserrat-boldItalic.fntdata"/><Relationship Id="rId11" Type="http://schemas.openxmlformats.org/officeDocument/2006/relationships/slide" Target="slides/slide5.xml"/><Relationship Id="rId33" Type="http://schemas.openxmlformats.org/officeDocument/2006/relationships/font" Target="fonts/MontserratMedium-italic.fntdata"/><Relationship Id="rId10" Type="http://schemas.openxmlformats.org/officeDocument/2006/relationships/slide" Target="slides/slide4.xml"/><Relationship Id="rId32" Type="http://schemas.openxmlformats.org/officeDocument/2006/relationships/font" Target="fonts/MontserratMedium-bold.fntdata"/><Relationship Id="rId13" Type="http://schemas.openxmlformats.org/officeDocument/2006/relationships/slide" Target="slides/slide7.xml"/><Relationship Id="rId35" Type="http://schemas.openxmlformats.org/officeDocument/2006/relationships/font" Target="fonts/MontserratExtraBold-bold.fntdata"/><Relationship Id="rId12" Type="http://schemas.openxmlformats.org/officeDocument/2006/relationships/slide" Target="slides/slide6.xml"/><Relationship Id="rId34" Type="http://schemas.openxmlformats.org/officeDocument/2006/relationships/font" Target="fonts/MontserratMedium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schemas.openxmlformats.org/officeDocument/2006/relationships/font" Target="fonts/MontserratExtraBold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b95e010f2_0_5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b95e010f2_0_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cb95e010f2_0_4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cb95e010f2_0_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b95e010f2_0_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b95e010f2_0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b97d990be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cb97d990be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85fc63280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85fc63280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85fc63280_1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d85fc63280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85fc63280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d85fc63280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85fc63280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d85fc63280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85fc63280_1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d85fc63280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85fc63280_1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d85fc63280_1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cbaa6fcc8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cbaa6fcc8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br>
              <a:rPr lang="en"/>
            </a:br>
            <a:r>
              <a:rPr lang="en"/>
              <a:t>Добавить/редкатирвоа кнопки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Создание новых маршрутов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Analytics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Визуализация данных, Статистика использования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br>
              <a:rPr lang="en"/>
            </a:br>
            <a:r>
              <a:rPr lang="en"/>
              <a:t>Расписание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Просмотр уже существующих маршрутов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Возможность предусмотреть форс-мажорные обстоятельства и обновить маршрут с их учётом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Сотрудники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Небольшая информация о торговых представителях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cbaa6fcc80_5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cbaa6fcc80_5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cbaa6fcc80_5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cbaa6fcc80_5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baa6fcc80_5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cbaa6fcc80_5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d59943b666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d59943b66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d59943b666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d59943b666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d6efbbac0b_3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d6efbbac0b_3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d59943b666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d59943b666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d6efbbac0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d6efbbac0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lang="en"/>
              <a:t>Система построения маршрутов между торговыми точками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lang="en"/>
              <a:t>Оценка примерной стоимости маршрутов с учетом разного транспорта, типа дорог (город/трасса)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lang="en"/>
              <a:t>Система отслеживания сотрудников и вид их транспорта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lang="en"/>
              <a:t>Формирование расписания посещения торговых точек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lang="en"/>
              <a:t>Учет форс-мажоров сотрудников во время рабочего дня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lang="en"/>
              <a:t>Перенос торговой точки вручную, либо с помощью ИИ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d6efbbac0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d6efbbac0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7.png"/><Relationship Id="rId6" Type="http://schemas.openxmlformats.org/officeDocument/2006/relationships/image" Target="../media/image12.png"/><Relationship Id="rId7" Type="http://schemas.openxmlformats.org/officeDocument/2006/relationships/image" Target="../media/image31.png"/><Relationship Id="rId8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2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22.png"/><Relationship Id="rId10" Type="http://schemas.openxmlformats.org/officeDocument/2006/relationships/image" Target="../media/image25.png"/><Relationship Id="rId9" Type="http://schemas.openxmlformats.org/officeDocument/2006/relationships/image" Target="../media/image23.png"/><Relationship Id="rId5" Type="http://schemas.openxmlformats.org/officeDocument/2006/relationships/image" Target="../media/image30.png"/><Relationship Id="rId6" Type="http://schemas.openxmlformats.org/officeDocument/2006/relationships/image" Target="../media/image24.png"/><Relationship Id="rId7" Type="http://schemas.openxmlformats.org/officeDocument/2006/relationships/image" Target="../media/image21.png"/><Relationship Id="rId8" Type="http://schemas.openxmlformats.org/officeDocument/2006/relationships/image" Target="../media/image2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700" y="242275"/>
            <a:ext cx="6643150" cy="44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/>
          <p:nvPr/>
        </p:nvSpPr>
        <p:spPr>
          <a:xfrm>
            <a:off x="4726350" y="2508000"/>
            <a:ext cx="4261200" cy="2456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4676550" y="2592775"/>
            <a:ext cx="43110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Montserrat ExtraBold"/>
                <a:ea typeface="Montserrat ExtraBold"/>
                <a:cs typeface="Montserrat ExtraBold"/>
                <a:sym typeface="Montserrat ExtraBold"/>
              </a:rPr>
              <a:t>ВНЕДРЕНИЕ </a:t>
            </a:r>
            <a:r>
              <a:rPr lang="en" sz="2200">
                <a:solidFill>
                  <a:srgbClr val="EC05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ИИ-ТЕХНОЛОГИЙ</a:t>
            </a:r>
            <a:r>
              <a:rPr lang="en" sz="2200">
                <a:solidFill>
                  <a:srgbClr val="D328D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r>
              <a:rPr lang="en" sz="2200">
                <a:latin typeface="Montserrat ExtraBold"/>
                <a:ea typeface="Montserrat ExtraBold"/>
                <a:cs typeface="Montserrat ExtraBold"/>
                <a:sym typeface="Montserrat ExtraBold"/>
              </a:rPr>
              <a:t>ДЛЯ ПОВЫШЕНИЯ ЭФФЕКТИВНОСТИ РАБОТЫ РОЗНИЧНОЙ СЕТИ Т2</a:t>
            </a:r>
            <a:endParaRPr sz="22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5532825" y="316125"/>
            <a:ext cx="672900" cy="589800"/>
          </a:xfrm>
          <a:prstGeom prst="wedgeEllipseCallout">
            <a:avLst>
              <a:gd fmla="val -18907" name="adj1"/>
              <a:gd fmla="val 113869" name="adj2"/>
            </a:avLst>
          </a:prstGeom>
          <a:solidFill>
            <a:srgbClr val="EC058C"/>
          </a:solidFill>
          <a:ln cap="flat" cmpd="sng" w="9525">
            <a:solidFill>
              <a:srgbClr val="EC05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8" name="Google Shape;58;p13"/>
          <p:cNvPicPr preferRelativeResize="0"/>
          <p:nvPr/>
        </p:nvPicPr>
        <p:blipFill rotWithShape="1">
          <a:blip r:embed="rId4">
            <a:alphaModFix/>
          </a:blip>
          <a:srcRect b="7295" l="21483" r="21773" t="9435"/>
          <a:stretch/>
        </p:blipFill>
        <p:spPr>
          <a:xfrm>
            <a:off x="5479725" y="242275"/>
            <a:ext cx="779100" cy="762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59" name="Google Shape;59;p13"/>
          <p:cNvSpPr/>
          <p:nvPr/>
        </p:nvSpPr>
        <p:spPr>
          <a:xfrm>
            <a:off x="3742350" y="1204550"/>
            <a:ext cx="672900" cy="589800"/>
          </a:xfrm>
          <a:prstGeom prst="wedgeEllipseCallout">
            <a:avLst>
              <a:gd fmla="val 17960" name="adj1"/>
              <a:gd fmla="val 97207" name="adj2"/>
            </a:avLst>
          </a:prstGeom>
          <a:solidFill>
            <a:srgbClr val="EC058C"/>
          </a:solidFill>
          <a:ln cap="flat" cmpd="sng" w="9525">
            <a:solidFill>
              <a:srgbClr val="EC05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0" name="Google Shape;60;p13"/>
          <p:cNvPicPr preferRelativeResize="0"/>
          <p:nvPr/>
        </p:nvPicPr>
        <p:blipFill rotWithShape="1">
          <a:blip r:embed="rId4">
            <a:alphaModFix/>
          </a:blip>
          <a:srcRect b="7295" l="21483" r="21773" t="9435"/>
          <a:stretch/>
        </p:blipFill>
        <p:spPr>
          <a:xfrm>
            <a:off x="3689250" y="1130700"/>
            <a:ext cx="779100" cy="762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61" name="Google Shape;61;p13"/>
          <p:cNvSpPr/>
          <p:nvPr/>
        </p:nvSpPr>
        <p:spPr>
          <a:xfrm>
            <a:off x="1686700" y="516100"/>
            <a:ext cx="672900" cy="589800"/>
          </a:xfrm>
          <a:prstGeom prst="wedgeEllipseCallout">
            <a:avLst>
              <a:gd fmla="val 17960" name="adj1"/>
              <a:gd fmla="val 97207" name="adj2"/>
            </a:avLst>
          </a:prstGeom>
          <a:solidFill>
            <a:srgbClr val="EC058C"/>
          </a:solidFill>
          <a:ln cap="flat" cmpd="sng" w="9525">
            <a:solidFill>
              <a:srgbClr val="EC05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3"/>
          <p:cNvPicPr preferRelativeResize="0"/>
          <p:nvPr/>
        </p:nvPicPr>
        <p:blipFill rotWithShape="1">
          <a:blip r:embed="rId4">
            <a:alphaModFix/>
          </a:blip>
          <a:srcRect b="7295" l="21483" r="21773" t="9435"/>
          <a:stretch/>
        </p:blipFill>
        <p:spPr>
          <a:xfrm>
            <a:off x="1633600" y="442250"/>
            <a:ext cx="779100" cy="762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63" name="Google Shape;63;p13"/>
          <p:cNvSpPr/>
          <p:nvPr/>
        </p:nvSpPr>
        <p:spPr>
          <a:xfrm>
            <a:off x="1490250" y="3228250"/>
            <a:ext cx="672900" cy="589800"/>
          </a:xfrm>
          <a:prstGeom prst="wedgeEllipseCallout">
            <a:avLst>
              <a:gd fmla="val 17960" name="adj1"/>
              <a:gd fmla="val 97207" name="adj2"/>
            </a:avLst>
          </a:prstGeom>
          <a:solidFill>
            <a:srgbClr val="EC058C"/>
          </a:solidFill>
          <a:ln cap="flat" cmpd="sng" w="9525">
            <a:solidFill>
              <a:srgbClr val="EC05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4">
            <a:alphaModFix/>
          </a:blip>
          <a:srcRect b="7295" l="21483" r="21773" t="9435"/>
          <a:stretch/>
        </p:blipFill>
        <p:spPr>
          <a:xfrm>
            <a:off x="1437150" y="3154400"/>
            <a:ext cx="779100" cy="7623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/>
          <p:nvPr/>
        </p:nvSpPr>
        <p:spPr>
          <a:xfrm>
            <a:off x="391625" y="228975"/>
            <a:ext cx="8373900" cy="773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 txBox="1"/>
          <p:nvPr/>
        </p:nvSpPr>
        <p:spPr>
          <a:xfrm>
            <a:off x="512275" y="277275"/>
            <a:ext cx="7061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 ExtraBold"/>
                <a:ea typeface="Montserrat ExtraBold"/>
                <a:cs typeface="Montserrat ExtraBold"/>
                <a:sym typeface="Montserrat ExtraBold"/>
              </a:rPr>
              <a:t>КОМАНДА ПРОЕКТА</a:t>
            </a:r>
            <a:endParaRPr sz="1600"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EC05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РАЗРАБОТЧИКИ РЕШЕНИЯ</a:t>
            </a:r>
            <a:endParaRPr sz="1600">
              <a:solidFill>
                <a:srgbClr val="EC058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71" name="Google Shape;7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2650" y="278150"/>
            <a:ext cx="845550" cy="67535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4"/>
          <p:cNvSpPr txBox="1"/>
          <p:nvPr/>
        </p:nvSpPr>
        <p:spPr>
          <a:xfrm>
            <a:off x="512275" y="1190775"/>
            <a:ext cx="5733900" cy="3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Кижаев Роман Петрович - </a:t>
            </a:r>
            <a:r>
              <a:rPr lang="en" sz="1800">
                <a:solidFill>
                  <a:srgbClr val="EC05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Backend</a:t>
            </a:r>
            <a:r>
              <a:rPr lang="en" sz="1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-разработчик</a:t>
            </a: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Маклаков Сергей Александрович - </a:t>
            </a:r>
            <a:r>
              <a:rPr lang="en" sz="1800">
                <a:solidFill>
                  <a:srgbClr val="EC05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PM/QA</a:t>
            </a:r>
            <a:r>
              <a:rPr lang="en" sz="1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-инженер</a:t>
            </a: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Мукасеев Дмитрий Александрович - </a:t>
            </a:r>
            <a:r>
              <a:rPr lang="en" sz="1800">
                <a:solidFill>
                  <a:srgbClr val="EC05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ML</a:t>
            </a:r>
            <a:r>
              <a:rPr lang="en" sz="1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-разработчик</a:t>
            </a: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Наумкин Владислав Валерьевич - </a:t>
            </a:r>
            <a:r>
              <a:rPr lang="en" sz="1800">
                <a:solidFill>
                  <a:srgbClr val="EC05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Frontend</a:t>
            </a:r>
            <a:r>
              <a:rPr lang="en" sz="1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-разработчик</a:t>
            </a: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D328D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5850" y="1783200"/>
            <a:ext cx="3089700" cy="2055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/>
          <p:nvPr/>
        </p:nvSpPr>
        <p:spPr>
          <a:xfrm>
            <a:off x="391625" y="228975"/>
            <a:ext cx="8373900" cy="773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5"/>
          <p:cNvSpPr txBox="1"/>
          <p:nvPr/>
        </p:nvSpPr>
        <p:spPr>
          <a:xfrm>
            <a:off x="501800" y="277275"/>
            <a:ext cx="7061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 ExtraBold"/>
                <a:ea typeface="Montserrat ExtraBold"/>
                <a:cs typeface="Montserrat ExtraBold"/>
                <a:sym typeface="Montserrat ExtraBold"/>
              </a:rPr>
              <a:t>ОПРЕДЕЛЕНИЕ ЗАДАЧИ </a:t>
            </a:r>
            <a:r>
              <a:rPr lang="en" sz="1600">
                <a:solidFill>
                  <a:srgbClr val="EC05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ПРОЕКТА</a:t>
            </a:r>
            <a:endParaRPr sz="1600"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EC05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ФУНКЦИОНАЛЬНЫЕ</a:t>
            </a:r>
            <a:r>
              <a:rPr lang="en" sz="1600">
                <a:latin typeface="Montserrat ExtraBold"/>
                <a:ea typeface="Montserrat ExtraBold"/>
                <a:cs typeface="Montserrat ExtraBold"/>
                <a:sym typeface="Montserrat ExtraBold"/>
              </a:rPr>
              <a:t> ТРЕБОВАНИЯ</a:t>
            </a:r>
            <a:endParaRPr sz="16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2650" y="278150"/>
            <a:ext cx="845550" cy="67535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 txBox="1"/>
          <p:nvPr/>
        </p:nvSpPr>
        <p:spPr>
          <a:xfrm>
            <a:off x="391625" y="1127950"/>
            <a:ext cx="8243700" cy="34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C05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ЗАДАЧА</a:t>
            </a:r>
            <a:endParaRPr sz="1900">
              <a:solidFill>
                <a:srgbClr val="EC058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Разработка программы для мониторинга и составления маршрутов торговой команды в реальном времени.</a:t>
            </a: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C05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ТРЕБОВАНИЯ К ПРОГРАММЕ:</a:t>
            </a:r>
            <a:endParaRPr sz="1900">
              <a:solidFill>
                <a:srgbClr val="EC058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Medium"/>
              <a:buChar char="-"/>
            </a:pPr>
            <a:r>
              <a:rPr lang="en" sz="1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Формировать оптимизированные маршруты на основе базы торговых точек (ТТ), минимизируя временные и транспортные затраты.</a:t>
            </a: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Medium"/>
              <a:buChar char="-"/>
            </a:pPr>
            <a:r>
              <a:rPr lang="en" sz="1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Учитывать форс-мажоры  — оперативно корректировать маршруты и перераспределять ТТ на другие дни.</a:t>
            </a: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Medium"/>
              <a:buChar char="-"/>
            </a:pPr>
            <a:r>
              <a:rPr lang="en" sz="1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Предоставлять возможность выгрузки аналитической информации из программы</a:t>
            </a:r>
            <a:endParaRPr sz="19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/>
          <p:nvPr/>
        </p:nvSpPr>
        <p:spPr>
          <a:xfrm>
            <a:off x="391625" y="228975"/>
            <a:ext cx="8373900" cy="773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 txBox="1"/>
          <p:nvPr/>
        </p:nvSpPr>
        <p:spPr>
          <a:xfrm>
            <a:off x="512275" y="354225"/>
            <a:ext cx="7061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EC05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ДОКУМЕНТАЦИЯ </a:t>
            </a:r>
            <a:r>
              <a:rPr lang="en" sz="2200">
                <a:latin typeface="Montserrat ExtraBold"/>
                <a:ea typeface="Montserrat ExtraBold"/>
                <a:cs typeface="Montserrat ExtraBold"/>
                <a:sym typeface="Montserrat ExtraBold"/>
              </a:rPr>
              <a:t>ПРОЕКТА</a:t>
            </a:r>
            <a:endParaRPr sz="2200">
              <a:solidFill>
                <a:srgbClr val="D328D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2650" y="278150"/>
            <a:ext cx="845550" cy="6753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/>
          <p:nvPr/>
        </p:nvSpPr>
        <p:spPr>
          <a:xfrm>
            <a:off x="443725" y="1190775"/>
            <a:ext cx="5466900" cy="36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Вся необходимая </a:t>
            </a:r>
            <a:r>
              <a:rPr lang="en" sz="1800">
                <a:solidFill>
                  <a:srgbClr val="EC05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документация</a:t>
            </a:r>
            <a:r>
              <a:rPr lang="en" sz="1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проекта находится в директории </a:t>
            </a:r>
            <a:r>
              <a:rPr lang="en" sz="1800">
                <a:solidFill>
                  <a:srgbClr val="EC05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docs</a:t>
            </a:r>
            <a:r>
              <a:rPr lang="en" sz="1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на </a:t>
            </a:r>
            <a:r>
              <a:rPr lang="en" sz="1800">
                <a:solidFill>
                  <a:srgbClr val="EC05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GitHUB</a:t>
            </a:r>
            <a:r>
              <a:rPr lang="en" sz="1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</a:t>
            </a: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Команда работала по методологии </a:t>
            </a:r>
            <a:r>
              <a:rPr lang="en" sz="1800">
                <a:solidFill>
                  <a:srgbClr val="EC05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AGILE</a:t>
            </a:r>
            <a:r>
              <a:rPr lang="en" sz="1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каждую пятницу и понедельник созвоны, задачи выполнялись спринтами, трекер JIRA.</a:t>
            </a: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Историю commits и pull requests можете посмотреть также в репозитории, тип репозитория: публичный, лицензия apache 2.0.</a:t>
            </a: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5831125" y="3982225"/>
            <a:ext cx="2934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https://github.com/JellyfishKa/T2_project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1" name="Google Shape;9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4600" y="1762850"/>
            <a:ext cx="2100900" cy="21009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/>
        </p:nvSpPr>
        <p:spPr>
          <a:xfrm>
            <a:off x="6154600" y="1247475"/>
            <a:ext cx="21009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ССЫЛКА НА </a:t>
            </a:r>
            <a:r>
              <a:rPr lang="en">
                <a:solidFill>
                  <a:srgbClr val="EC058C"/>
                </a:solidFill>
                <a:latin typeface="Montserrat"/>
                <a:ea typeface="Montserrat"/>
                <a:cs typeface="Montserrat"/>
                <a:sym typeface="Montserrat"/>
              </a:rPr>
              <a:t>GITHUB</a:t>
            </a:r>
            <a:endParaRPr>
              <a:solidFill>
                <a:srgbClr val="EC05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/>
          <p:nvPr/>
        </p:nvSpPr>
        <p:spPr>
          <a:xfrm>
            <a:off x="391625" y="228975"/>
            <a:ext cx="8373900" cy="773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7"/>
          <p:cNvSpPr txBox="1"/>
          <p:nvPr/>
        </p:nvSpPr>
        <p:spPr>
          <a:xfrm>
            <a:off x="512275" y="354225"/>
            <a:ext cx="7061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НАШ </a:t>
            </a:r>
            <a:r>
              <a:rPr lang="en" sz="2200">
                <a:solidFill>
                  <a:srgbClr val="EC05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СТЕК </a:t>
            </a:r>
            <a:r>
              <a:rPr lang="en" sz="22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ТЕХНОЛОГИЙ</a:t>
            </a:r>
            <a:endParaRPr sz="2200">
              <a:solidFill>
                <a:srgbClr val="D328D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99" name="Google Shape;9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2650" y="278150"/>
            <a:ext cx="845550" cy="67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7"/>
          <p:cNvSpPr txBox="1"/>
          <p:nvPr/>
        </p:nvSpPr>
        <p:spPr>
          <a:xfrm>
            <a:off x="512275" y="1190775"/>
            <a:ext cx="4755000" cy="36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C05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Backend:</a:t>
            </a: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Medium"/>
              <a:buChar char="●"/>
            </a:pPr>
            <a:r>
              <a:rPr lang="en" sz="1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Python 3.11+ / FastAPI </a:t>
            </a: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Medium"/>
              <a:buChar char="●"/>
            </a:pPr>
            <a:r>
              <a:rPr lang="en" sz="1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SQLAlchemy async + Alembic </a:t>
            </a: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Medium"/>
              <a:buChar char="●"/>
            </a:pPr>
            <a:r>
              <a:rPr lang="en" sz="1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PostgreSQL </a:t>
            </a: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Medium"/>
              <a:buChar char="●"/>
            </a:pPr>
            <a:r>
              <a:rPr lang="en" sz="1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Qwen2-0.5B + Llama-3.2-1B </a:t>
            </a: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Medium"/>
              <a:buChar char="●"/>
            </a:pPr>
            <a:r>
              <a:rPr lang="en" sz="1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openpyxl </a:t>
            </a: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descr="Back-end concept icon. Software development kit idea thin line illustration. Service orchestration. Programming and coding. IT project. Digital data. Vector isolated outline drawing (источник: Getty Images)" id="101" name="Google Shape;10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6775" y="1415813"/>
            <a:ext cx="2928573" cy="29285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/>
          <p:nvPr/>
        </p:nvSpPr>
        <p:spPr>
          <a:xfrm>
            <a:off x="391625" y="228975"/>
            <a:ext cx="8373900" cy="773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8"/>
          <p:cNvSpPr txBox="1"/>
          <p:nvPr/>
        </p:nvSpPr>
        <p:spPr>
          <a:xfrm>
            <a:off x="512275" y="354225"/>
            <a:ext cx="7061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НАШ </a:t>
            </a:r>
            <a:r>
              <a:rPr lang="en" sz="2200">
                <a:solidFill>
                  <a:srgbClr val="EC05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СТЕК </a:t>
            </a:r>
            <a:r>
              <a:rPr lang="en" sz="22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ТЕХНОЛОГИЙ</a:t>
            </a:r>
            <a:endParaRPr sz="2200">
              <a:solidFill>
                <a:srgbClr val="D328D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08" name="Google Shape;10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2650" y="278150"/>
            <a:ext cx="845550" cy="67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8"/>
          <p:cNvSpPr txBox="1"/>
          <p:nvPr/>
        </p:nvSpPr>
        <p:spPr>
          <a:xfrm>
            <a:off x="443725" y="1190775"/>
            <a:ext cx="3726300" cy="36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C05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Frontend:</a:t>
            </a:r>
            <a:endParaRPr sz="1900">
              <a:solidFill>
                <a:srgbClr val="EC058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Medium"/>
              <a:buChar char="●"/>
            </a:pPr>
            <a:r>
              <a:rPr lang="en" sz="1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Vue 3 </a:t>
            </a: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Medium"/>
              <a:buChar char="●"/>
            </a:pPr>
            <a:r>
              <a:rPr lang="en" sz="1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Vite </a:t>
            </a: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Medium"/>
              <a:buChar char="●"/>
            </a:pPr>
            <a:r>
              <a:rPr lang="en" sz="1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TypeScript</a:t>
            </a: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Medium"/>
              <a:buChar char="●"/>
            </a:pPr>
            <a:r>
              <a:rPr lang="en" sz="1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Tailwind CSS</a:t>
            </a: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Medium"/>
              <a:buChar char="●"/>
            </a:pPr>
            <a:r>
              <a:rPr lang="en" sz="1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Chart.js + vue-chartjs </a:t>
            </a: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Medium"/>
              <a:buChar char="●"/>
            </a:pPr>
            <a:r>
              <a:rPr lang="en" sz="1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Axios </a:t>
            </a: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descr="Front-end concept icon. Software development kit idea thin line illustration. Service orchestration. Programming and coding. Responsive website design. Vector isolated outline drawing (источник: Getty Images)" id="110" name="Google Shape;11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6775" y="1415813"/>
            <a:ext cx="2928573" cy="29285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/>
          <p:nvPr/>
        </p:nvSpPr>
        <p:spPr>
          <a:xfrm>
            <a:off x="391625" y="228975"/>
            <a:ext cx="8373900" cy="773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9"/>
          <p:cNvSpPr txBox="1"/>
          <p:nvPr/>
        </p:nvSpPr>
        <p:spPr>
          <a:xfrm>
            <a:off x="512275" y="354225"/>
            <a:ext cx="7061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БАЗЫ </a:t>
            </a:r>
            <a:r>
              <a:rPr lang="en" sz="2200">
                <a:solidFill>
                  <a:srgbClr val="EC05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ДАННЫХ</a:t>
            </a:r>
            <a:endParaRPr sz="2200">
              <a:solidFill>
                <a:srgbClr val="D328D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17" name="Google Shape;11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2650" y="278150"/>
            <a:ext cx="845550" cy="67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9"/>
          <p:cNvSpPr txBox="1"/>
          <p:nvPr/>
        </p:nvSpPr>
        <p:spPr>
          <a:xfrm>
            <a:off x="443725" y="1190775"/>
            <a:ext cx="2850000" cy="36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8F8F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Были созданы 13 таблиц:</a:t>
            </a:r>
            <a:endParaRPr sz="1500">
              <a:solidFill>
                <a:srgbClr val="F8F8F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8F8F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500"/>
              <a:buFont typeface="Montserrat Medium"/>
              <a:buAutoNum type="arabicParenR"/>
            </a:pPr>
            <a:r>
              <a:rPr lang="en" sz="1500">
                <a:solidFill>
                  <a:srgbClr val="F8F8F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Location </a:t>
            </a:r>
            <a:endParaRPr sz="1500">
              <a:solidFill>
                <a:srgbClr val="F8F8F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500"/>
              <a:buFont typeface="Montserrat Medium"/>
              <a:buAutoNum type="arabicParenR"/>
            </a:pPr>
            <a:r>
              <a:rPr lang="en" sz="1500">
                <a:solidFill>
                  <a:srgbClr val="F8F8F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Route </a:t>
            </a:r>
            <a:endParaRPr sz="1500">
              <a:solidFill>
                <a:srgbClr val="F8F8F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500"/>
              <a:buFont typeface="Montserrat Medium"/>
              <a:buAutoNum type="arabicParenR"/>
            </a:pPr>
            <a:r>
              <a:rPr lang="en" sz="1500">
                <a:solidFill>
                  <a:srgbClr val="F8F8F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Metric </a:t>
            </a:r>
            <a:endParaRPr sz="1500">
              <a:solidFill>
                <a:srgbClr val="F8F8F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500"/>
              <a:buFont typeface="Montserrat Medium"/>
              <a:buAutoNum type="arabicParenR"/>
            </a:pPr>
            <a:r>
              <a:rPr lang="en" sz="1500">
                <a:solidFill>
                  <a:srgbClr val="F8F8F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Sales Rep</a:t>
            </a:r>
            <a:endParaRPr sz="1500">
              <a:solidFill>
                <a:srgbClr val="F8F8F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500"/>
              <a:buFont typeface="Montserrat Medium"/>
              <a:buAutoNum type="arabicParenR"/>
            </a:pPr>
            <a:r>
              <a:rPr lang="en" sz="1500">
                <a:solidFill>
                  <a:srgbClr val="F8F8F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VisitLog </a:t>
            </a:r>
            <a:endParaRPr sz="1500">
              <a:solidFill>
                <a:srgbClr val="F8F8F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500"/>
              <a:buFont typeface="Montserrat Medium"/>
              <a:buAutoNum type="arabicParenR"/>
            </a:pPr>
            <a:r>
              <a:rPr lang="en" sz="1500">
                <a:solidFill>
                  <a:srgbClr val="F8F8F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Visit Schedule </a:t>
            </a:r>
            <a:endParaRPr sz="1500">
              <a:solidFill>
                <a:srgbClr val="F8F8F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500"/>
              <a:buFont typeface="Montserrat Medium"/>
              <a:buAutoNum type="arabicParenR"/>
            </a:pPr>
            <a:r>
              <a:rPr lang="en" sz="1500">
                <a:solidFill>
                  <a:srgbClr val="F8F8F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ForceMajorEvent </a:t>
            </a:r>
            <a:endParaRPr sz="1500">
              <a:solidFill>
                <a:srgbClr val="F8F8F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500"/>
              <a:buFont typeface="Montserrat Medium"/>
              <a:buAutoNum type="arabicParenR"/>
            </a:pPr>
            <a:r>
              <a:rPr lang="en" sz="1500">
                <a:solidFill>
                  <a:srgbClr val="F8F8F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Optimization</a:t>
            </a:r>
            <a:r>
              <a:rPr lang="en" sz="1500">
                <a:solidFill>
                  <a:srgbClr val="F8F8F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Result </a:t>
            </a:r>
            <a:endParaRPr sz="1500">
              <a:solidFill>
                <a:srgbClr val="F8F8F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500"/>
              <a:buFont typeface="Montserrat Medium"/>
              <a:buAutoNum type="arabicParenR"/>
            </a:pPr>
            <a:r>
              <a:rPr lang="en" sz="1500">
                <a:solidFill>
                  <a:srgbClr val="F8F8F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Vehicle</a:t>
            </a:r>
            <a:endParaRPr sz="1500">
              <a:solidFill>
                <a:srgbClr val="F8F8F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19" name="Google Shape;119;p19"/>
          <p:cNvSpPr txBox="1"/>
          <p:nvPr/>
        </p:nvSpPr>
        <p:spPr>
          <a:xfrm>
            <a:off x="2386825" y="1643375"/>
            <a:ext cx="2346900" cy="30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8F8F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10)DailyRouteOverride</a:t>
            </a:r>
            <a:endParaRPr sz="1500">
              <a:solidFill>
                <a:srgbClr val="F8F8F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8F8F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11) SkippedVisitStash</a:t>
            </a:r>
            <a:endParaRPr sz="1500">
              <a:solidFill>
                <a:srgbClr val="F8F8F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8F8F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12) Holiday</a:t>
            </a:r>
            <a:endParaRPr sz="1500">
              <a:solidFill>
                <a:srgbClr val="F8F8F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8F8F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13) AuditLog</a:t>
            </a:r>
            <a:endParaRPr sz="1500">
              <a:solidFill>
                <a:srgbClr val="F8F8F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8F8F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20" name="Google Shape;12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4725" y="1190775"/>
            <a:ext cx="3850800" cy="3622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/>
          <p:nvPr/>
        </p:nvSpPr>
        <p:spPr>
          <a:xfrm>
            <a:off x="391625" y="228975"/>
            <a:ext cx="8373900" cy="773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0"/>
          <p:cNvSpPr txBox="1"/>
          <p:nvPr/>
        </p:nvSpPr>
        <p:spPr>
          <a:xfrm>
            <a:off x="512275" y="354225"/>
            <a:ext cx="7061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ТЕСТИРОВАНИЕ</a:t>
            </a:r>
            <a:endParaRPr sz="2200">
              <a:solidFill>
                <a:srgbClr val="D328D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27" name="Google Shape;12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2650" y="278150"/>
            <a:ext cx="845550" cy="6753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8" name="Google Shape;128;p20"/>
          <p:cNvGraphicFramePr/>
          <p:nvPr/>
        </p:nvGraphicFramePr>
        <p:xfrm>
          <a:off x="512275" y="12906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{C4215610-1FEE-4E96-BB8B-6ABC463A84EA}</a:tableStyleId>
              </a:tblPr>
              <a:tblGrid>
                <a:gridCol w="1415750"/>
                <a:gridCol w="1819400"/>
                <a:gridCol w="1289250"/>
              </a:tblGrid>
              <a:tr h="866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Компонент</a:t>
                      </a:r>
                      <a:endParaRPr>
                        <a:solidFill>
                          <a:schemeClr val="l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5250" marB="95250" marR="152400" marL="91425">
                    <a:lnL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Количество тестов</a:t>
                      </a:r>
                      <a:endParaRPr>
                        <a:solidFill>
                          <a:schemeClr val="l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5250" marB="95250" marR="152400" marL="152400">
                    <a:lnL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Покрытие</a:t>
                      </a:r>
                      <a:endParaRPr>
                        <a:solidFill>
                          <a:schemeClr val="l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5250" marB="95250" marR="152400" marL="152400">
                    <a:lnL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544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Backend</a:t>
                      </a:r>
                      <a:endParaRPr>
                        <a:solidFill>
                          <a:schemeClr val="l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5250" marB="95250" marR="152400" marL="91425">
                    <a:lnL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61</a:t>
                      </a:r>
                      <a:endParaRPr>
                        <a:solidFill>
                          <a:schemeClr val="l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5250" marB="95250" marR="152400" marL="152400">
                    <a:lnL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64%</a:t>
                      </a:r>
                      <a:endParaRPr>
                        <a:solidFill>
                          <a:schemeClr val="l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5250" marB="95250" marR="91425" marL="152400">
                    <a:lnL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544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Frontend</a:t>
                      </a:r>
                      <a:endParaRPr>
                        <a:solidFill>
                          <a:schemeClr val="l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5250" marB="95250" marR="152400" marL="91425">
                    <a:lnL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182</a:t>
                      </a:r>
                      <a:endParaRPr>
                        <a:solidFill>
                          <a:schemeClr val="l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5250" marB="95250" marR="152400" marL="152400">
                    <a:lnL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~70%</a:t>
                      </a:r>
                      <a:endParaRPr>
                        <a:solidFill>
                          <a:schemeClr val="l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5250" marB="95250" marR="91425" marL="152400">
                    <a:lnL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866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ML / Бенчмарки</a:t>
                      </a:r>
                      <a:endParaRPr>
                        <a:solidFill>
                          <a:schemeClr val="l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5250" marB="95250" marR="152400" marL="91425">
                    <a:lnL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15</a:t>
                      </a:r>
                      <a:endParaRPr>
                        <a:solidFill>
                          <a:schemeClr val="l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5250" marB="95250" marR="152400" marL="152400">
                    <a:lnL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~80%</a:t>
                      </a:r>
                      <a:endParaRPr>
                        <a:solidFill>
                          <a:schemeClr val="l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5250" marB="95250" marR="91425" marL="152400">
                    <a:lnL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544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ИТОГО</a:t>
                      </a:r>
                      <a:endParaRPr>
                        <a:solidFill>
                          <a:schemeClr val="l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5250" marB="95250" marR="152400" marL="91425">
                    <a:lnL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258+</a:t>
                      </a:r>
                      <a:endParaRPr>
                        <a:solidFill>
                          <a:schemeClr val="l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5250" marB="95250" marR="152400" marL="152400">
                    <a:lnL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~68%</a:t>
                      </a:r>
                      <a:endParaRPr>
                        <a:solidFill>
                          <a:schemeClr val="l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5250" marB="95250" marR="91425" marL="152400">
                    <a:lnL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sp>
        <p:nvSpPr>
          <p:cNvPr id="129" name="Google Shape;129;p20"/>
          <p:cNvSpPr txBox="1"/>
          <p:nvPr/>
        </p:nvSpPr>
        <p:spPr>
          <a:xfrm>
            <a:off x="5808200" y="1504750"/>
            <a:ext cx="2590800" cy="24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Нужно вставить иформативную картинку с тестами или добавить описание какие именно тесты для чего писались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/>
          <p:nvPr/>
        </p:nvSpPr>
        <p:spPr>
          <a:xfrm>
            <a:off x="391625" y="228975"/>
            <a:ext cx="8373900" cy="773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1"/>
          <p:cNvSpPr txBox="1"/>
          <p:nvPr/>
        </p:nvSpPr>
        <p:spPr>
          <a:xfrm>
            <a:off x="512275" y="354225"/>
            <a:ext cx="7061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API</a:t>
            </a:r>
            <a:endParaRPr sz="2200">
              <a:solidFill>
                <a:srgbClr val="D328D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36" name="Google Shape;13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2650" y="278150"/>
            <a:ext cx="845550" cy="6753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7" name="Google Shape;137;p21"/>
          <p:cNvGraphicFramePr/>
          <p:nvPr/>
        </p:nvGraphicFramePr>
        <p:xfrm>
          <a:off x="512275" y="1190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{C4215610-1FEE-4E96-BB8B-6ABC463A84EA}</a:tableStyleId>
              </a:tblPr>
              <a:tblGrid>
                <a:gridCol w="1558475"/>
                <a:gridCol w="3896150"/>
                <a:gridCol w="2798650"/>
              </a:tblGrid>
              <a:tr h="475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Группа</a:t>
                      </a:r>
                      <a:endParaRPr>
                        <a:solidFill>
                          <a:schemeClr val="l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5250" marB="95250" marR="152400" marL="91425">
                    <a:lnL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Что делает</a:t>
                      </a:r>
                      <a:endParaRPr>
                        <a:solidFill>
                          <a:schemeClr val="l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5250" marB="95250" marR="152400" marL="152400">
                    <a:lnL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Примеры</a:t>
                      </a:r>
                      <a:endParaRPr>
                        <a:solidFill>
                          <a:schemeClr val="l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5250" marB="95250" marR="152400" marL="152400">
                    <a:lnL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Система</a:t>
                      </a:r>
                      <a:endParaRPr>
                        <a:solidFill>
                          <a:schemeClr val="l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5250" marB="95250" marR="152400" marL="91425">
                    <a:lnL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Проверка здоровья</a:t>
                      </a:r>
                      <a:endParaRPr>
                        <a:solidFill>
                          <a:schemeClr val="l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5250" marB="95250" marR="152400" marL="152400">
                    <a:lnL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/health</a:t>
                      </a:r>
                      <a:endParaRPr>
                        <a:solidFill>
                          <a:schemeClr val="l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5250" marB="95250" marR="91425" marL="152400">
                    <a:lnL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62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Оптимизация</a:t>
                      </a:r>
                      <a:endParaRPr>
                        <a:solidFill>
                          <a:schemeClr val="l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5250" marB="95250" marR="152400" marL="91425">
                    <a:lnL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3 варианта + LLM, подтверждение</a:t>
                      </a:r>
                      <a:endParaRPr>
                        <a:solidFill>
                          <a:schemeClr val="l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5250" marB="95250" marR="152400" marL="152400">
                    <a:lnL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/optimize /variants, /confirm</a:t>
                      </a:r>
                      <a:endParaRPr>
                        <a:solidFill>
                          <a:schemeClr val="l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5250" marB="95250" marR="91425" marL="152400">
                    <a:lnL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62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Торговые точки</a:t>
                      </a:r>
                      <a:endParaRPr>
                        <a:solidFill>
                          <a:schemeClr val="l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5250" marB="95250" marR="152400" marL="91425">
                    <a:lnL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CRUD + загрузка файлов</a:t>
                      </a:r>
                      <a:endParaRPr>
                        <a:solidFill>
                          <a:schemeClr val="l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5250" marB="95250" marR="152400" marL="152400">
                    <a:lnL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/locations, /upload</a:t>
                      </a:r>
                      <a:endParaRPr>
                        <a:solidFill>
                          <a:schemeClr val="l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5250" marB="95250" marR="91425" marL="152400">
                    <a:lnL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62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Сотрудники</a:t>
                      </a:r>
                      <a:endParaRPr>
                        <a:solidFill>
                          <a:schemeClr val="l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5250" marB="95250" marR="152400" marL="91425">
                    <a:lnL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CRUD, смена статуса</a:t>
                      </a:r>
                      <a:endParaRPr>
                        <a:solidFill>
                          <a:schemeClr val="l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5250" marB="95250" marR="152400" marL="152400">
                    <a:lnL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/reps</a:t>
                      </a:r>
                      <a:endParaRPr>
                        <a:solidFill>
                          <a:schemeClr val="l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5250" marB="95250" marR="91425" marL="152400">
                    <a:lnL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734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Расписание</a:t>
                      </a:r>
                      <a:endParaRPr>
                        <a:solidFill>
                          <a:schemeClr val="l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5250" marB="95250" marR="152400" marL="91425">
                    <a:lnL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Генерация плана, просмотр, изменение статуса</a:t>
                      </a:r>
                      <a:endParaRPr>
                        <a:solidFill>
                          <a:schemeClr val="l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5250" marB="95250" marR="152400" marL="152400">
                    <a:lnL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/schedule /generate</a:t>
                      </a:r>
                      <a:endParaRPr>
                        <a:solidFill>
                          <a:schemeClr val="l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5250" marB="95250" marR="91425" marL="152400">
                    <a:lnL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/>
          <p:nvPr/>
        </p:nvSpPr>
        <p:spPr>
          <a:xfrm>
            <a:off x="391625" y="228975"/>
            <a:ext cx="8373900" cy="773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2"/>
          <p:cNvSpPr txBox="1"/>
          <p:nvPr/>
        </p:nvSpPr>
        <p:spPr>
          <a:xfrm>
            <a:off x="512275" y="354225"/>
            <a:ext cx="7061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API</a:t>
            </a:r>
            <a:endParaRPr sz="2200">
              <a:solidFill>
                <a:srgbClr val="D328D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44" name="Google Shape;14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2650" y="278150"/>
            <a:ext cx="845550" cy="6753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5" name="Google Shape;145;p22"/>
          <p:cNvGraphicFramePr/>
          <p:nvPr/>
        </p:nvGraphicFramePr>
        <p:xfrm>
          <a:off x="512275" y="1367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{C4215610-1FEE-4E96-BB8B-6ABC463A84EA}</a:tableStyleId>
              </a:tblPr>
              <a:tblGrid>
                <a:gridCol w="1646825"/>
                <a:gridCol w="3719975"/>
                <a:gridCol w="2886450"/>
              </a:tblGrid>
              <a:tr h="534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Группа</a:t>
                      </a:r>
                      <a:endParaRPr>
                        <a:solidFill>
                          <a:schemeClr val="l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5250" marB="95250" marR="152400" marL="91425">
                    <a:lnL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Что делает</a:t>
                      </a:r>
                      <a:endParaRPr>
                        <a:solidFill>
                          <a:schemeClr val="l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5250" marB="95250" marR="152400" marL="152400">
                    <a:lnL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Примеры</a:t>
                      </a:r>
                      <a:endParaRPr>
                        <a:solidFill>
                          <a:schemeClr val="l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5250" marB="95250" marR="152400" marL="152400">
                    <a:lnL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743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Форс-мажоры</a:t>
                      </a:r>
                      <a:endParaRPr>
                        <a:solidFill>
                          <a:schemeClr val="l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5250" marB="95250" marR="152400" marL="91425">
                    <a:lnL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Обработка инцидентов, история</a:t>
                      </a:r>
                      <a:endParaRPr>
                        <a:solidFill>
                          <a:schemeClr val="l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5250" marB="95250" marR="152400" marL="152400">
                    <a:lnL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/force_majeure</a:t>
                      </a:r>
                      <a:endParaRPr>
                        <a:solidFill>
                          <a:schemeClr val="l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5250" marB="95250" marR="91425" marL="152400">
                    <a:lnL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557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Визиты</a:t>
                      </a:r>
                      <a:endParaRPr>
                        <a:solidFill>
                          <a:schemeClr val="l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5250" marB="95250" marR="152400" marL="91425">
                    <a:lnL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Фиксация времени, статистика</a:t>
                      </a:r>
                      <a:endParaRPr>
                        <a:solidFill>
                          <a:schemeClr val="l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5250" marB="95250" marR="152400" marL="152400">
                    <a:lnL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/visits, /stats</a:t>
                      </a:r>
                      <a:endParaRPr>
                        <a:solidFill>
                          <a:schemeClr val="l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5250" marB="95250" marR="91425" marL="152400">
                    <a:lnL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743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Аналитика</a:t>
                      </a:r>
                      <a:endParaRPr>
                        <a:solidFill>
                          <a:schemeClr val="l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5250" marB="95250" marR="152400" marL="91425">
                    <a:lnL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Метрики LLM, охват ТТ, сравнение моделей</a:t>
                      </a:r>
                      <a:endParaRPr>
                        <a:solidFill>
                          <a:schemeClr val="l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5250" marB="95250" marR="152400" marL="152400">
                    <a:lnL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/insights, /benchmark /compare</a:t>
                      </a:r>
                      <a:endParaRPr>
                        <a:solidFill>
                          <a:schemeClr val="l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5250" marB="95250" marR="91425" marL="152400">
                    <a:lnL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534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Экспорт</a:t>
                      </a:r>
                      <a:endParaRPr>
                        <a:solidFill>
                          <a:schemeClr val="l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5250" marB="95250" marR="152400" marL="91425">
                    <a:lnL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Excel-отчёт</a:t>
                      </a:r>
                      <a:endParaRPr>
                        <a:solidFill>
                          <a:schemeClr val="l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5250" marB="95250" marR="152400" marL="152400">
                    <a:lnL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/export /schedule</a:t>
                      </a:r>
                      <a:endParaRPr>
                        <a:solidFill>
                          <a:schemeClr val="l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5250" marB="95250" marR="91425" marL="152400">
                    <a:lnL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EC058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/>
          <p:nvPr/>
        </p:nvSpPr>
        <p:spPr>
          <a:xfrm>
            <a:off x="149549" y="1297710"/>
            <a:ext cx="8325225" cy="3592225"/>
          </a:xfrm>
          <a:custGeom>
            <a:rect b="b" l="l" r="r" t="t"/>
            <a:pathLst>
              <a:path extrusionOk="0" h="143689" w="333009">
                <a:moveTo>
                  <a:pt x="218112" y="92624"/>
                </a:moveTo>
                <a:cubicBezTo>
                  <a:pt x="206216" y="83027"/>
                  <a:pt x="163996" y="71717"/>
                  <a:pt x="172963" y="67481"/>
                </a:cubicBezTo>
                <a:cubicBezTo>
                  <a:pt x="181930" y="63245"/>
                  <a:pt x="248663" y="74735"/>
                  <a:pt x="271913" y="67210"/>
                </a:cubicBezTo>
                <a:cubicBezTo>
                  <a:pt x="295164" y="59685"/>
                  <a:pt x="323776" y="24991"/>
                  <a:pt x="312466" y="22332"/>
                </a:cubicBezTo>
                <a:cubicBezTo>
                  <a:pt x="301156" y="19674"/>
                  <a:pt x="219239" y="53512"/>
                  <a:pt x="204054" y="51259"/>
                </a:cubicBezTo>
                <a:cubicBezTo>
                  <a:pt x="188869" y="49006"/>
                  <a:pt x="225997" y="15257"/>
                  <a:pt x="221356" y="8814"/>
                </a:cubicBezTo>
                <a:cubicBezTo>
                  <a:pt x="216715" y="2371"/>
                  <a:pt x="198827" y="-8849"/>
                  <a:pt x="176207" y="12599"/>
                </a:cubicBezTo>
                <a:cubicBezTo>
                  <a:pt x="153587" y="34047"/>
                  <a:pt x="107987" y="120426"/>
                  <a:pt x="85638" y="137503"/>
                </a:cubicBezTo>
                <a:cubicBezTo>
                  <a:pt x="63289" y="154580"/>
                  <a:pt x="55584" y="132636"/>
                  <a:pt x="42111" y="115063"/>
                </a:cubicBezTo>
                <a:cubicBezTo>
                  <a:pt x="28638" y="97490"/>
                  <a:pt x="-14123" y="31884"/>
                  <a:pt x="4802" y="32064"/>
                </a:cubicBezTo>
                <a:cubicBezTo>
                  <a:pt x="23727" y="32244"/>
                  <a:pt x="113845" y="103033"/>
                  <a:pt x="155660" y="116145"/>
                </a:cubicBezTo>
                <a:cubicBezTo>
                  <a:pt x="197475" y="129257"/>
                  <a:pt x="229331" y="118894"/>
                  <a:pt x="255691" y="110738"/>
                </a:cubicBezTo>
                <a:cubicBezTo>
                  <a:pt x="282051" y="102582"/>
                  <a:pt x="301652" y="64236"/>
                  <a:pt x="313818" y="67210"/>
                </a:cubicBezTo>
                <a:cubicBezTo>
                  <a:pt x="325984" y="70184"/>
                  <a:pt x="340267" y="118938"/>
                  <a:pt x="328687" y="128581"/>
                </a:cubicBezTo>
                <a:cubicBezTo>
                  <a:pt x="317107" y="138224"/>
                  <a:pt x="262766" y="131059"/>
                  <a:pt x="244337" y="125066"/>
                </a:cubicBezTo>
                <a:cubicBezTo>
                  <a:pt x="225908" y="119073"/>
                  <a:pt x="230008" y="102222"/>
                  <a:pt x="218112" y="92624"/>
                </a:cubicBezTo>
                <a:close/>
              </a:path>
            </a:pathLst>
          </a:custGeom>
          <a:noFill/>
          <a:ln cap="flat" cmpd="sng" w="28575">
            <a:solidFill>
              <a:srgbClr val="EC058C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1" name="Google Shape;151;p23"/>
          <p:cNvSpPr/>
          <p:nvPr/>
        </p:nvSpPr>
        <p:spPr>
          <a:xfrm>
            <a:off x="391625" y="228975"/>
            <a:ext cx="8373900" cy="773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3"/>
          <p:cNvSpPr txBox="1"/>
          <p:nvPr/>
        </p:nvSpPr>
        <p:spPr>
          <a:xfrm>
            <a:off x="489600" y="277275"/>
            <a:ext cx="7061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 ExtraBold"/>
                <a:ea typeface="Montserrat ExtraBold"/>
                <a:cs typeface="Montserrat ExtraBold"/>
                <a:sym typeface="Montserrat ExtraBold"/>
              </a:rPr>
              <a:t>ОПИСАНИЕ РАБОТЫ:</a:t>
            </a:r>
            <a:endParaRPr sz="1600"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EC05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ОСНОВНЫЕ СТРАНИЦЫ</a:t>
            </a:r>
            <a:endParaRPr sz="1600">
              <a:solidFill>
                <a:srgbClr val="EC058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53" name="Google Shape;15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2650" y="278150"/>
            <a:ext cx="845550" cy="67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3"/>
          <p:cNvSpPr/>
          <p:nvPr/>
        </p:nvSpPr>
        <p:spPr>
          <a:xfrm>
            <a:off x="2529113" y="1297700"/>
            <a:ext cx="3566100" cy="3305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3"/>
          <p:cNvSpPr txBox="1"/>
          <p:nvPr/>
        </p:nvSpPr>
        <p:spPr>
          <a:xfrm>
            <a:off x="3259938" y="1574750"/>
            <a:ext cx="2624100" cy="27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Дашборд </a:t>
            </a:r>
            <a:endParaRPr b="1" sz="1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Оптимизация</a:t>
            </a:r>
            <a:endParaRPr b="1" sz="1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Аналитика</a:t>
            </a:r>
            <a:endParaRPr b="1" sz="1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Расписание</a:t>
            </a:r>
            <a:endParaRPr b="1" sz="1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База данных</a:t>
            </a:r>
            <a:endParaRPr b="1" sz="1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6" name="Google Shape;15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29172" y="2768787"/>
            <a:ext cx="344900" cy="34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29172" y="3936725"/>
            <a:ext cx="344900" cy="34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27872" y="3359794"/>
            <a:ext cx="347473" cy="3474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27888" y="1634100"/>
            <a:ext cx="347471" cy="3452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729000" y="2201438"/>
            <a:ext cx="345243" cy="3452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/>
          <p:nvPr/>
        </p:nvSpPr>
        <p:spPr>
          <a:xfrm>
            <a:off x="391625" y="228975"/>
            <a:ext cx="8373900" cy="773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4"/>
          <p:cNvSpPr txBox="1"/>
          <p:nvPr/>
        </p:nvSpPr>
        <p:spPr>
          <a:xfrm>
            <a:off x="489600" y="277275"/>
            <a:ext cx="7061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 ExtraBold"/>
                <a:ea typeface="Montserrat ExtraBold"/>
                <a:cs typeface="Montserrat ExtraBold"/>
                <a:sym typeface="Montserrat ExtraBold"/>
              </a:rPr>
              <a:t>ОПИСАНИЕ РАБОТЫ:</a:t>
            </a:r>
            <a:endParaRPr sz="1600"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EC05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Общая информация</a:t>
            </a:r>
            <a:endParaRPr sz="1600">
              <a:solidFill>
                <a:srgbClr val="EC058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67" name="Google Shape;16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2650" y="278150"/>
            <a:ext cx="845550" cy="67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39900" y="1068850"/>
            <a:ext cx="5489949" cy="3971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5"/>
          <p:cNvSpPr/>
          <p:nvPr/>
        </p:nvSpPr>
        <p:spPr>
          <a:xfrm>
            <a:off x="391625" y="228975"/>
            <a:ext cx="8373900" cy="773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5"/>
          <p:cNvSpPr txBox="1"/>
          <p:nvPr/>
        </p:nvSpPr>
        <p:spPr>
          <a:xfrm>
            <a:off x="489600" y="277275"/>
            <a:ext cx="7061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 ExtraBold"/>
                <a:ea typeface="Montserrat ExtraBold"/>
                <a:cs typeface="Montserrat ExtraBold"/>
                <a:sym typeface="Montserrat ExtraBold"/>
              </a:rPr>
              <a:t>ОПИСАНИЕ РАБОТЫ:</a:t>
            </a:r>
            <a:endParaRPr sz="1600"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EC05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Оптимизация маршрута</a:t>
            </a:r>
            <a:endParaRPr sz="1600">
              <a:solidFill>
                <a:srgbClr val="EC058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75" name="Google Shape;17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2650" y="278150"/>
            <a:ext cx="845550" cy="67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0625" y="1048400"/>
            <a:ext cx="4618849" cy="397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6"/>
          <p:cNvSpPr/>
          <p:nvPr/>
        </p:nvSpPr>
        <p:spPr>
          <a:xfrm>
            <a:off x="391625" y="228975"/>
            <a:ext cx="8373900" cy="773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6"/>
          <p:cNvSpPr txBox="1"/>
          <p:nvPr/>
        </p:nvSpPr>
        <p:spPr>
          <a:xfrm>
            <a:off x="489600" y="277275"/>
            <a:ext cx="7061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 ExtraBold"/>
                <a:ea typeface="Montserrat ExtraBold"/>
                <a:cs typeface="Montserrat ExtraBold"/>
                <a:sym typeface="Montserrat ExtraBold"/>
              </a:rPr>
              <a:t>ОПИСАНИЕ РАБОТЫ:</a:t>
            </a:r>
            <a:endParaRPr sz="1600"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EC05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Аналитика</a:t>
            </a:r>
            <a:endParaRPr sz="1600">
              <a:solidFill>
                <a:srgbClr val="EC058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83" name="Google Shape;18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2650" y="278150"/>
            <a:ext cx="845550" cy="67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6"/>
          <p:cNvPicPr preferRelativeResize="0"/>
          <p:nvPr/>
        </p:nvPicPr>
        <p:blipFill rotWithShape="1">
          <a:blip r:embed="rId4">
            <a:alphaModFix/>
          </a:blip>
          <a:srcRect b="18913" l="28692" r="9671" t="11166"/>
          <a:stretch/>
        </p:blipFill>
        <p:spPr>
          <a:xfrm>
            <a:off x="1182875" y="1131350"/>
            <a:ext cx="6709800" cy="374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7"/>
          <p:cNvSpPr/>
          <p:nvPr/>
        </p:nvSpPr>
        <p:spPr>
          <a:xfrm>
            <a:off x="391625" y="228975"/>
            <a:ext cx="8373900" cy="773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7"/>
          <p:cNvSpPr txBox="1"/>
          <p:nvPr/>
        </p:nvSpPr>
        <p:spPr>
          <a:xfrm>
            <a:off x="489600" y="277275"/>
            <a:ext cx="7061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 ExtraBold"/>
                <a:ea typeface="Montserrat ExtraBold"/>
                <a:cs typeface="Montserrat ExtraBold"/>
                <a:sym typeface="Montserrat ExtraBold"/>
              </a:rPr>
              <a:t>ОПИСАНИЕ РАБОТЫ:</a:t>
            </a:r>
            <a:endParaRPr sz="1600"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EC05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Расписание</a:t>
            </a:r>
            <a:endParaRPr sz="1600">
              <a:solidFill>
                <a:srgbClr val="EC058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91" name="Google Shape;19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2650" y="278150"/>
            <a:ext cx="845550" cy="67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1625" y="1371875"/>
            <a:ext cx="5806449" cy="2900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17700" y="1752500"/>
            <a:ext cx="2361150" cy="255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17700" y="1190775"/>
            <a:ext cx="2361150" cy="496225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/>
          <p:nvPr/>
        </p:nvSpPr>
        <p:spPr>
          <a:xfrm>
            <a:off x="391625" y="228975"/>
            <a:ext cx="8373900" cy="773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8"/>
          <p:cNvSpPr txBox="1"/>
          <p:nvPr/>
        </p:nvSpPr>
        <p:spPr>
          <a:xfrm>
            <a:off x="489600" y="277275"/>
            <a:ext cx="7061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 ExtraBold"/>
                <a:ea typeface="Montserrat ExtraBold"/>
                <a:cs typeface="Montserrat ExtraBold"/>
                <a:sym typeface="Montserrat ExtraBold"/>
              </a:rPr>
              <a:t>ОПИСАНИЕ РАБОТЫ:</a:t>
            </a:r>
            <a:endParaRPr sz="1600"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EC05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Работа с Базой Данных</a:t>
            </a:r>
            <a:endParaRPr sz="1600">
              <a:solidFill>
                <a:srgbClr val="EC058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201" name="Google Shape;20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2650" y="278150"/>
            <a:ext cx="845550" cy="67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41350" y="1039150"/>
            <a:ext cx="4274427" cy="3836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9"/>
          <p:cNvSpPr/>
          <p:nvPr/>
        </p:nvSpPr>
        <p:spPr>
          <a:xfrm>
            <a:off x="391625" y="228975"/>
            <a:ext cx="8373900" cy="773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9"/>
          <p:cNvSpPr txBox="1"/>
          <p:nvPr/>
        </p:nvSpPr>
        <p:spPr>
          <a:xfrm>
            <a:off x="489600" y="277275"/>
            <a:ext cx="7061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 ExtraBold"/>
                <a:ea typeface="Montserrat ExtraBold"/>
                <a:cs typeface="Montserrat ExtraBold"/>
                <a:sym typeface="Montserrat ExtraBold"/>
              </a:rPr>
              <a:t>ОПИСАНИЕ РАБОТЫ:</a:t>
            </a:r>
            <a:endParaRPr sz="1600"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EC05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Работа с Базой Данных</a:t>
            </a:r>
            <a:endParaRPr sz="1600">
              <a:solidFill>
                <a:srgbClr val="EC058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209" name="Google Shape;20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2650" y="278150"/>
            <a:ext cx="845550" cy="67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4826" y="1190775"/>
            <a:ext cx="3953376" cy="339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1625" y="1685800"/>
            <a:ext cx="4054950" cy="24067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0"/>
          <p:cNvSpPr/>
          <p:nvPr/>
        </p:nvSpPr>
        <p:spPr>
          <a:xfrm>
            <a:off x="391625" y="228975"/>
            <a:ext cx="8373900" cy="773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30"/>
          <p:cNvSpPr txBox="1"/>
          <p:nvPr/>
        </p:nvSpPr>
        <p:spPr>
          <a:xfrm>
            <a:off x="489600" y="277275"/>
            <a:ext cx="7061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 ExtraBold"/>
                <a:ea typeface="Montserrat ExtraBold"/>
                <a:cs typeface="Montserrat ExtraBold"/>
                <a:sym typeface="Montserrat ExtraBold"/>
              </a:rPr>
              <a:t>ОПИСАНИЕ РАБОТЫ:</a:t>
            </a:r>
            <a:endParaRPr sz="1600"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EC05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Маршрут</a:t>
            </a:r>
            <a:endParaRPr sz="1600">
              <a:solidFill>
                <a:srgbClr val="EC058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218" name="Google Shape;21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2650" y="278150"/>
            <a:ext cx="845550" cy="67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1625" y="1103600"/>
            <a:ext cx="4499328" cy="383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43353" y="1155075"/>
            <a:ext cx="3948247" cy="35182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1"/>
          <p:cNvSpPr/>
          <p:nvPr/>
        </p:nvSpPr>
        <p:spPr>
          <a:xfrm>
            <a:off x="391625" y="228975"/>
            <a:ext cx="8373900" cy="773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31"/>
          <p:cNvSpPr txBox="1"/>
          <p:nvPr/>
        </p:nvSpPr>
        <p:spPr>
          <a:xfrm>
            <a:off x="489600" y="277275"/>
            <a:ext cx="7061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 ExtraBold"/>
                <a:ea typeface="Montserrat ExtraBold"/>
                <a:cs typeface="Montserrat ExtraBold"/>
                <a:sym typeface="Montserrat ExtraBold"/>
              </a:rPr>
              <a:t>ОПИСАНИЕ РАБОТЫ:</a:t>
            </a:r>
            <a:endParaRPr sz="1600"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EC05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Что в конечном счете получаем?</a:t>
            </a:r>
            <a:endParaRPr sz="1600">
              <a:solidFill>
                <a:srgbClr val="EC058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227" name="Google Shape;22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2650" y="278150"/>
            <a:ext cx="845550" cy="67535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1"/>
          <p:cNvSpPr txBox="1"/>
          <p:nvPr/>
        </p:nvSpPr>
        <p:spPr>
          <a:xfrm>
            <a:off x="661200" y="2315863"/>
            <a:ext cx="2247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Построение маршрутов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229" name="Google Shape;229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2175" y="1256913"/>
            <a:ext cx="1058950" cy="105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53238" y="1090275"/>
            <a:ext cx="1176525" cy="117652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31"/>
          <p:cNvSpPr txBox="1"/>
          <p:nvPr/>
        </p:nvSpPr>
        <p:spPr>
          <a:xfrm>
            <a:off x="3646050" y="2208013"/>
            <a:ext cx="1851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Расчет стоимости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маршрутов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32" name="Google Shape;232;p31"/>
          <p:cNvSpPr txBox="1"/>
          <p:nvPr/>
        </p:nvSpPr>
        <p:spPr>
          <a:xfrm>
            <a:off x="6402863" y="2208000"/>
            <a:ext cx="1851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Учет сотрудников и транспорта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233" name="Google Shape;233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14312" y="1090287"/>
            <a:ext cx="1229025" cy="122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67900" y="2967200"/>
            <a:ext cx="929550" cy="92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1"/>
          <p:cNvSpPr txBox="1"/>
          <p:nvPr/>
        </p:nvSpPr>
        <p:spPr>
          <a:xfrm>
            <a:off x="306713" y="3821700"/>
            <a:ext cx="1851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Формирование расписания сотрудников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236" name="Google Shape;236;p3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737975" y="2918900"/>
            <a:ext cx="1024623" cy="102465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1"/>
          <p:cNvSpPr txBox="1"/>
          <p:nvPr/>
        </p:nvSpPr>
        <p:spPr>
          <a:xfrm>
            <a:off x="2355000" y="3913425"/>
            <a:ext cx="1851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Учёт форс-мажоров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238" name="Google Shape;238;p3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387775" y="2797088"/>
            <a:ext cx="1024625" cy="102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3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203325" y="2844638"/>
            <a:ext cx="929550" cy="92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31"/>
          <p:cNvSpPr txBox="1"/>
          <p:nvPr/>
        </p:nvSpPr>
        <p:spPr>
          <a:xfrm>
            <a:off x="4795488" y="3743313"/>
            <a:ext cx="1851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Возможность редактирования маршрутов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41" name="Google Shape;241;p31"/>
          <p:cNvSpPr txBox="1"/>
          <p:nvPr/>
        </p:nvSpPr>
        <p:spPr>
          <a:xfrm>
            <a:off x="6974125" y="3743325"/>
            <a:ext cx="1851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Удобный экспорт/импорт информации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2650" y="278150"/>
            <a:ext cx="845550" cy="67535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2"/>
          <p:cNvSpPr txBox="1"/>
          <p:nvPr/>
        </p:nvSpPr>
        <p:spPr>
          <a:xfrm>
            <a:off x="712950" y="1053625"/>
            <a:ext cx="7718100" cy="29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4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СПАСИБО ЗА ВНИМАНИЕ</a:t>
            </a:r>
            <a:endParaRPr b="1" sz="2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